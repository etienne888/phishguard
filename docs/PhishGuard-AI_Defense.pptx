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Precision</c:v>
                </c:pt>
              </c:strCache>
            </c:strRef>
          </c:tx>
          <c:spPr>
            <a:solidFill>
              <a:srgbClr val="0B1F3A"/>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Text model</c:v>
                  </c:pt>
                  <c:pt idx="1">
                    <c:v>Rules</c:v>
                  </c:pt>
                  <c:pt idx="2">
                    <c:v>Pipeline (no AI)</c:v>
                  </c:pt>
                  <c:pt idx="3">
                    <c:v>Pipeline + AI</c:v>
                  </c:pt>
                </c:lvl>
              </c:multiLvlStrCache>
            </c:multiLvlStrRef>
          </c:cat>
          <c:val>
            <c:numRef>
              <c:f>Sheet1!$B$2:$B$5</c:f>
              <c:numCache>
                <c:formatCode>General</c:formatCode>
                <c:ptCount val="4"/>
                <c:pt idx="0">
                  <c:v>78.4</c:v>
                </c:pt>
                <c:pt idx="1">
                  <c:v>100</c:v>
                </c:pt>
                <c:pt idx="2">
                  <c:v>89.9</c:v>
                </c:pt>
                <c:pt idx="3">
                  <c:v>92</c:v>
                </c:pt>
              </c:numCache>
            </c:numRef>
          </c:val>
        </c:ser>
        <c:ser>
          <c:idx val="1"/>
          <c:order val="1"/>
          <c:tx>
            <c:strRef>
              <c:f>Sheet1!$C$1</c:f>
              <c:strCache>
                <c:ptCount val="1"/>
                <c:pt idx="0">
                  <c:v>Recall</c:v>
                </c:pt>
              </c:strCache>
            </c:strRef>
          </c:tx>
          <c:spPr>
            <a:solidFill>
              <a:srgbClr val="06B6D4"/>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Text model</c:v>
                  </c:pt>
                  <c:pt idx="1">
                    <c:v>Rules</c:v>
                  </c:pt>
                  <c:pt idx="2">
                    <c:v>Pipeline (no AI)</c:v>
                  </c:pt>
                  <c:pt idx="3">
                    <c:v>Pipeline + AI</c:v>
                  </c:pt>
                </c:lvl>
              </c:multiLvlStrCache>
            </c:multiLvlStrRef>
          </c:cat>
          <c:val>
            <c:numRef>
              <c:f>Sheet1!$C$2:$C$5</c:f>
              <c:numCache>
                <c:formatCode>General</c:formatCode>
                <c:ptCount val="4"/>
                <c:pt idx="0">
                  <c:v>99.1</c:v>
                </c:pt>
                <c:pt idx="1">
                  <c:v>6.4</c:v>
                </c:pt>
                <c:pt idx="2">
                  <c:v>80.9</c:v>
                </c:pt>
                <c:pt idx="3">
                  <c:v>95.8</c:v>
                </c:pt>
              </c:numCache>
            </c:numRef>
          </c:val>
        </c:ser>
        <c:ser>
          <c:idx val="2"/>
          <c:order val="2"/>
          <c:tx>
            <c:strRef>
              <c:f>Sheet1!$D$1</c:f>
              <c:strCache>
                <c:ptCount val="1"/>
                <c:pt idx="0">
                  <c:v>F1</c:v>
                </c:pt>
              </c:strCache>
            </c:strRef>
          </c:tx>
          <c:spPr>
            <a:solidFill>
              <a:srgbClr val="F59E0B"/>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Text model</c:v>
                  </c:pt>
                  <c:pt idx="1">
                    <c:v>Rules</c:v>
                  </c:pt>
                  <c:pt idx="2">
                    <c:v>Pipeline (no AI)</c:v>
                  </c:pt>
                  <c:pt idx="3">
                    <c:v>Pipeline + AI</c:v>
                  </c:pt>
                </c:lvl>
              </c:multiLvlStrCache>
            </c:multiLvlStrRef>
          </c:cat>
          <c:val>
            <c:numRef>
              <c:f>Sheet1!$D$2:$D$5</c:f>
              <c:numCache>
                <c:formatCode>General</c:formatCode>
                <c:ptCount val="4"/>
                <c:pt idx="0">
                  <c:v>87.6</c:v>
                </c:pt>
                <c:pt idx="1">
                  <c:v>12</c:v>
                </c:pt>
                <c:pt idx="2">
                  <c:v>85.2</c:v>
                </c:pt>
                <c:pt idx="3">
                  <c:v>93.9</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F172A"/>
                </a:solidFill>
                <a:latin typeface="Arial"/>
              </a:defRPr>
            </a:pPr>
            <a:endParaRPr lang="en-US"/>
          </a:p>
        </c:txPr>
        <c:crossAx val="2094734552"/>
        <c:crosses val="autoZero"/>
        <c:auto val="1"/>
        <c:lblAlgn val="ctr"/>
        <c:noMultiLvlLbl val="1"/>
      </c:catAx>
      <c:valAx>
        <c:axId val="2094734552"/>
        <c:scaling>
          <c:orientation val="minMax"/>
          <c:max val="11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honourable members of the jury. My name is DJAMBOU NOUBIBOU Lareine Tracy, and I present PhishGuard-AI, a platform that detects phishing messages targeting Cameroonians and teaches them to recognise scams, supervised by Eng. NEBASI Brayan.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presentation follows the structure of my dissertation: context, objectives, literature, methodology, design, implementation with a demonstration, results, and finally the limits and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Phishing in Cameroon mostly looks like this: fake mobile money suspensions, the fake relative who changed number, fake ENEO bills, fake bank alerts and prizes. Many contain no link at all. The tools that exist were built for English corporate e-mail, they ignore messages without links, and they block without explaining, so the user learns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the absence of an accessible, explainable and locally adapted tool. My general objective is to design, implement and evaluate such a platform. It has four SMART specific objectives: a hybrid detection engine with F1 of at least 0.85 and fewer than 15 percent false alarms; a multi-channel platform answering in under 10 seconds; an awareness component; and a secured administration and security operations module. Each objective maps to one research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literature shows that blocklists arrive late, rules catch only what their authors foresaw, machine learning depends on its data and raises false alarms, and language models are slow and external. Awareness research, notably Kumaraguru and Sheng, shows that training is most effective when embedded at the moment of decision. The gap is a tool that combines all four signals, explains itself, targets local scams and aggregates reports into intelligence.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Design Science Research: the contribution is an artefact plus the knowledge from building and evaluating it. Development went in four iterations. Since no public Cameroonian corpus exists, I built one of 6,370 messages. The key choice is the grouped split: every variant of a template is either in training or in test, never both, so the model is not tested on copies of what it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has three tiers: a Vue 3 front end that is also an installable app, a Flask API organised in blueprints with small services each doing one job, and PostgreSQL. External services are called only by the back end, never by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input is parsed, then four signals run in parallel. The text model weighs 30 percent, Claude 25, URL intelligence 25 and the rules 20. If a signal is unavailable, for example no link or no AI, its weight is redistributed so the score stays comparable. Two hard overrides apply: a blocklisted link or a brand spoof forces at least 85; an official, authenticated sender with clean links is capped at 30. Every signal returns evidence, which becomes the explanation shown to the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e-mails, the platform reads the Received headers from the bottom to find the first public IP. It geolocates it, checks three blacklists and raises flags such as datacentre sender, scripted mailer, or a message claiming to be a Cameroonian bank but sent from abroad. When the sender used Gmail, the provider hides the IP, so we say "hidden" rather than showing a wrong location. Users see a simple card; administrators see the full path, and each view is audited.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citizen journey. Anyone can paste a message; the four signals run live. A visitor then has to sign in to see the result: the server only returns a single-use token. This drives registration and prevents fraudsters from anonymously testing whether their scam passes. The result card highlights the suspicious words in the message itself and says what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follows people where scams arrive: a phone-first installable app that appears in the Android share menu, screenshot reading on the device, read-only connection of Gmail or Outlook with encrypted tokens, and a forwarding address. The Learn page offers a quiz built on real Cameroonian scenarios.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Administrators get a small security operations centre. Risky sign-ups are held for approval, user reports enter a review queue with a triage suggestion, dangerous messages sharing a domain or brand are correlated into incidents that feed the blocklist, and the threat radar shows where attacks come from. Sensitive actions require sudo mode and everything is audited.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platform that stores messages and mailbox access is itself a target, so I applied Saltzer and Schroeder principles and privacy by design: read-only scopes, no verdicts for anonymous users, sessions revalidated at every request, sudo mode, a full audit log, minimal storage, bcrypt and encrypted tokens, and global sign-out. Twelve security test cases including SQL injection, XSS, token replay and privilege escalation all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204 unseen Cameroonian messages, the text model alone catches 99 percent of scams but raises false alarms on almost one genuine message in three. Rules never raise false alarms but catch only 6 percent. Fusion without AI cuts false alarms to 10.6 percent with F1 0.85; adding Claude raises recall to 0.96 and F1 to 0.94 on a 40-message sample. Median latency is 10 milliseconds offline and 7.2 seconds with AI. All four objectives are met on this technical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transparent about the limits. The remaining misses are scams with no link and no brand, like the fake relative, which score just below the threshold; this is exactly where the AI helps. The corpus is partly synthetic, the AI was evaluated on 40 messages, and the user study is designed but not yet run. Next steps: retrain on real reviewed messages, add rules for money requests from new numbers, run the user study, and partner with CIRT and operators.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PhishGuard-AI detects, explains and teaches, and it was built for the scams Cameroonians really receive. The four objectives are met on the technical evaluation, and the next step is to validate it with real users. Thank you for your attention; I am ready for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11338560" y="6400800"/>
            <a:ext cx="548640" cy="274320"/>
          </a:xfrm>
          <a:prstGeom prst="rect">
            <a:avLst/>
          </a:prstGeom>
          <a:noFill/>
          <a:ln/>
        </p:spPr>
        <p:txBody>
          <a:bodyPr wrap="square" lIns="0" tIns="0" rIns="0" bIns="0" rtlCol="0" anchor="ctr"/>
          <a:lstStyle/>
          <a:p>
            <a:pPr algn="r" indent="0" marL="0">
              <a:buNone/>
            </a:pPr>
            <a:r>
              <a:rPr lang="en-US" sz="1000" dirty="0">
                <a:solidFill>
                  <a:srgbClr val="94A3B8"/>
                </a:solidFill>
              </a:rPr>
              <a:t>1</a:t>
            </a:r>
            <a:endParaRPr lang="en-US" sz="1000" dirty="0"/>
          </a:p>
        </p:txBody>
      </p:sp>
      <p:sp>
        <p:nvSpPr>
          <p:cNvPr id="3" name="Text 1"/>
          <p:cNvSpPr txBox="1"/>
          <p:nvPr/>
        </p:nvSpPr>
        <p:spPr>
          <a:xfrm>
            <a:off x="548640" y="457200"/>
            <a:ext cx="7315200" cy="365760"/>
          </a:xfrm>
          <a:prstGeom prst="rect">
            <a:avLst/>
          </a:prstGeom>
          <a:noFill/>
          <a:ln/>
        </p:spPr>
        <p:txBody>
          <a:bodyPr wrap="square" lIns="0" tIns="0" rIns="0" bIns="0" rtlCol="0" anchor="ctr"/>
          <a:lstStyle/>
          <a:p>
            <a:pPr indent="0" marL="0">
              <a:buNone/>
            </a:pPr>
            <a:r>
              <a:rPr lang="en-US" sz="1300" b="1" spc="200" kern="0" dirty="0">
                <a:solidFill>
                  <a:srgbClr val="06B6D4"/>
                </a:solidFill>
              </a:rPr>
              <a:t>THE ICT UNIVERSITY  ·  Faculty of ICT  ·  BSc Cybersecurity</a:t>
            </a:r>
            <a:endParaRPr lang="en-US" sz="1300" dirty="0"/>
          </a:p>
        </p:txBody>
      </p:sp>
      <p:sp>
        <p:nvSpPr>
          <p:cNvPr id="4" name="Text 2"/>
          <p:cNvSpPr txBox="1"/>
          <p:nvPr/>
        </p:nvSpPr>
        <p:spPr>
          <a:xfrm>
            <a:off x="548640" y="1463040"/>
            <a:ext cx="6858000" cy="100584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PhishGuard-AI</a:t>
            </a:r>
            <a:endParaRPr lang="en-US" sz="6000" dirty="0"/>
          </a:p>
        </p:txBody>
      </p:sp>
      <p:sp>
        <p:nvSpPr>
          <p:cNvPr id="5" name="Text 3"/>
          <p:cNvSpPr txBox="1"/>
          <p:nvPr/>
        </p:nvSpPr>
        <p:spPr>
          <a:xfrm>
            <a:off x="548640" y="2560320"/>
            <a:ext cx="6035040" cy="1188720"/>
          </a:xfrm>
          <a:prstGeom prst="rect">
            <a:avLst/>
          </a:prstGeom>
          <a:noFill/>
          <a:ln/>
        </p:spPr>
        <p:txBody>
          <a:bodyPr wrap="square" lIns="0" tIns="0" rIns="0" bIns="0" rtlCol="0" anchor="ctr"/>
          <a:lstStyle/>
          <a:p>
            <a:pPr indent="0" marL="0">
              <a:buNone/>
            </a:pPr>
            <a:r>
              <a:rPr lang="en-US" sz="2000" dirty="0">
                <a:solidFill>
                  <a:srgbClr val="CBD5E1"/>
                </a:solidFill>
                <a:latin typeface="Calibri" pitchFamily="34" charset="0"/>
                <a:ea typeface="Calibri" pitchFamily="34" charset="-122"/>
                <a:cs typeface="Calibri" pitchFamily="34" charset="-120"/>
              </a:rPr>
              <a:t>Design and Implementation of an AI-Based Platform for Phishing Detection and Cybersecurity Awareness in Cameroon</a:t>
            </a:r>
            <a:endParaRPr lang="en-US" sz="2000" dirty="0"/>
          </a:p>
        </p:txBody>
      </p:sp>
      <p:sp>
        <p:nvSpPr>
          <p:cNvPr id="6" name="Text 4"/>
          <p:cNvSpPr txBox="1"/>
          <p:nvPr/>
        </p:nvSpPr>
        <p:spPr>
          <a:xfrm>
            <a:off x="548640" y="4206240"/>
            <a:ext cx="5943600" cy="1463040"/>
          </a:xfrm>
          <a:prstGeom prst="rect">
            <a:avLst/>
          </a:prstGeom>
          <a:noFill/>
          <a:ln/>
        </p:spPr>
        <p:txBody>
          <a:bodyPr wrap="square" lIns="0" tIns="0" rIns="0" bIns="0" rtlCol="0" anchor="ctr"/>
          <a:lstStyle/>
          <a:p>
            <a:pPr indent="0" marL="0">
              <a:buNone/>
            </a:pPr>
            <a:r>
              <a:rPr lang="en-US" sz="1600" b="1" dirty="0">
                <a:solidFill>
                  <a:srgbClr val="FFFFFF"/>
                </a:solidFill>
              </a:rPr>
              <a:t>DJAMBOU NOUBIBOU Lareine Tracy</a:t>
            </a:r>
            <a:endParaRPr lang="en-US" sz="1600" dirty="0"/>
          </a:p>
          <a:p>
            <a:pPr indent="0" marL="0">
              <a:buNone/>
            </a:pPr>
            <a:r>
              <a:rPr lang="en-US" sz="1600" dirty="0">
                <a:solidFill>
                  <a:srgbClr val="94A3B8"/>
                </a:solidFill>
              </a:rPr>
              <a:t>ICTU20234152</a:t>
            </a:r>
            <a:endParaRPr lang="en-US" sz="1600" dirty="0"/>
          </a:p>
          <a:p>
            <a:pPr indent="0" marL="0">
              <a:buNone/>
            </a:pPr>
            <a:r>
              <a:rPr lang="en-US" sz="1600" dirty="0">
                <a:solidFill>
                  <a:srgbClr val="94A3B8"/>
                </a:solidFill>
              </a:rPr>
              <a:t>Supervisor: Eng. NEBASI Brayan</a:t>
            </a:r>
            <a:endParaRPr lang="en-US" sz="1600" dirty="0"/>
          </a:p>
          <a:p>
            <a:pPr indent="0" marL="0">
              <a:buNone/>
            </a:pPr>
            <a:r>
              <a:rPr lang="en-US" sz="1600" dirty="0">
                <a:solidFill>
                  <a:srgbClr val="94A3B8"/>
                </a:solidFill>
              </a:rPr>
              <a:t>Academic year 2025/2026</a:t>
            </a:r>
            <a:endParaRPr lang="en-US" sz="1600" dirty="0"/>
          </a:p>
        </p:txBody>
      </p:sp>
      <p:pic>
        <p:nvPicPr>
          <p:cNvPr id="7" name="Image 0" descr="C:\Users\HP\AppData\Local\Temp\claude\j--PhishGuard\ca0c545f-7cb4-4742-8c08-f5a0631ede70\scratchpad\report\shots\21-threat-radar.png">    </p:cNvPr>
          <p:cNvPicPr>
            <a:picLocks noChangeAspect="1"/>
          </p:cNvPicPr>
          <p:nvPr/>
        </p:nvPicPr>
        <p:blipFill>
          <a:blip r:embed="rId1"/>
          <a:stretch>
            <a:fillRect/>
          </a:stretch>
        </p:blipFill>
        <p:spPr>
          <a:xfrm>
            <a:off x="6858000" y="1840230"/>
            <a:ext cx="4937760" cy="3086100"/>
          </a:xfrm>
          <a:prstGeom prst="rect">
            <a:avLst/>
          </a:prstGeom>
          <a:effectLst>
            <a:outerShdw sx="100000" sy="100000" kx="0" ky="0" algn="bl" rotWithShape="0" blurRad="101600" dist="38100" dir="5400000">
              <a:srgbClr val="000000">
                <a:alpha val="18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00800"/>
            <a:ext cx="548640" cy="274320"/>
          </a:xfrm>
          <a:prstGeom prst="rect">
            <a:avLst/>
          </a:prstGeom>
          <a:noFill/>
          <a:ln/>
        </p:spPr>
        <p:txBody>
          <a:bodyPr wrap="square" lIns="0" tIns="0" rIns="0" bIns="0" rtlCol="0" anchor="ctr"/>
          <a:lstStyle/>
          <a:p>
            <a:pPr algn="r" indent="0" marL="0">
              <a:buNone/>
            </a:pPr>
            <a:r>
              <a:rPr lang="en-US" sz="1000" dirty="0">
                <a:solidFill>
                  <a:srgbClr val="64748B"/>
                </a:solidFill>
              </a:rPr>
              <a:t>2</a:t>
            </a:r>
            <a:endParaRPr lang="en-US" sz="1000" dirty="0"/>
          </a:p>
        </p:txBody>
      </p:sp>
      <p:sp>
        <p:nvSpPr>
          <p:cNvPr id="3" name="Text 1"/>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Outline</a:t>
            </a:r>
            <a:endParaRPr lang="en-US" sz="3200" dirty="0"/>
          </a:p>
        </p:txBody>
      </p:sp>
      <p:sp>
        <p:nvSpPr>
          <p:cNvPr id="4" name="Shape 2"/>
          <p:cNvSpPr/>
          <p:nvPr/>
        </p:nvSpPr>
        <p:spPr>
          <a:xfrm>
            <a:off x="548640" y="1645920"/>
            <a:ext cx="2560320" cy="1828800"/>
          </a:xfrm>
          <a:prstGeom prst="roundRect">
            <a:avLst>
              <a:gd name="adj" fmla="val 6000"/>
            </a:avLst>
          </a:prstGeom>
          <a:solidFill>
            <a:srgbClr val="F1F5F9"/>
          </a:solidFill>
          <a:ln/>
        </p:spPr>
      </p:sp>
      <p:sp>
        <p:nvSpPr>
          <p:cNvPr id="5" name="Shape 3"/>
          <p:cNvSpPr/>
          <p:nvPr/>
        </p:nvSpPr>
        <p:spPr>
          <a:xfrm>
            <a:off x="777240" y="1874520"/>
            <a:ext cx="502920" cy="502920"/>
          </a:xfrm>
          <a:prstGeom prst="ellipse">
            <a:avLst/>
          </a:prstGeom>
          <a:solidFill>
            <a:srgbClr val="0B1F3A"/>
          </a:solidFill>
          <a:ln/>
        </p:spPr>
      </p:sp>
      <p:sp>
        <p:nvSpPr>
          <p:cNvPr id="6" name="Text 4"/>
          <p:cNvSpPr txBox="1"/>
          <p:nvPr/>
        </p:nvSpPr>
        <p:spPr>
          <a:xfrm>
            <a:off x="777240" y="18745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Text 5"/>
          <p:cNvSpPr txBox="1"/>
          <p:nvPr/>
        </p:nvSpPr>
        <p:spPr>
          <a:xfrm>
            <a:off x="777240" y="2560320"/>
            <a:ext cx="2194560" cy="731520"/>
          </a:xfrm>
          <a:prstGeom prst="rect">
            <a:avLst/>
          </a:prstGeom>
          <a:noFill/>
          <a:ln/>
        </p:spPr>
        <p:txBody>
          <a:bodyPr wrap="square" lIns="0" tIns="0" rIns="0" bIns="0" rtlCol="0" anchor="ctr"/>
          <a:lstStyle/>
          <a:p>
            <a:pPr indent="0" marL="0">
              <a:buNone/>
            </a:pPr>
            <a:r>
              <a:rPr lang="en-US" sz="1800" b="1" dirty="0">
                <a:solidFill>
                  <a:srgbClr val="0F172A"/>
                </a:solidFill>
              </a:rPr>
              <a:t>Context &amp; problem</a:t>
            </a:r>
            <a:endParaRPr lang="en-US" sz="1800" dirty="0"/>
          </a:p>
        </p:txBody>
      </p:sp>
      <p:sp>
        <p:nvSpPr>
          <p:cNvPr id="8" name="Shape 6"/>
          <p:cNvSpPr/>
          <p:nvPr/>
        </p:nvSpPr>
        <p:spPr>
          <a:xfrm>
            <a:off x="3383280" y="1645920"/>
            <a:ext cx="2560320" cy="1828800"/>
          </a:xfrm>
          <a:prstGeom prst="roundRect">
            <a:avLst>
              <a:gd name="adj" fmla="val 6000"/>
            </a:avLst>
          </a:prstGeom>
          <a:solidFill>
            <a:srgbClr val="F1F5F9"/>
          </a:solidFill>
          <a:ln/>
        </p:spPr>
      </p:sp>
      <p:sp>
        <p:nvSpPr>
          <p:cNvPr id="9" name="Shape 7"/>
          <p:cNvSpPr/>
          <p:nvPr/>
        </p:nvSpPr>
        <p:spPr>
          <a:xfrm>
            <a:off x="3611880" y="1874520"/>
            <a:ext cx="502920" cy="502920"/>
          </a:xfrm>
          <a:prstGeom prst="ellipse">
            <a:avLst/>
          </a:prstGeom>
          <a:solidFill>
            <a:srgbClr val="06B6D4"/>
          </a:solidFill>
          <a:ln/>
        </p:spPr>
      </p:sp>
      <p:sp>
        <p:nvSpPr>
          <p:cNvPr id="10" name="Text 8"/>
          <p:cNvSpPr txBox="1"/>
          <p:nvPr/>
        </p:nvSpPr>
        <p:spPr>
          <a:xfrm>
            <a:off x="3611880" y="18745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1" name="Text 9"/>
          <p:cNvSpPr txBox="1"/>
          <p:nvPr/>
        </p:nvSpPr>
        <p:spPr>
          <a:xfrm>
            <a:off x="3611880" y="2560320"/>
            <a:ext cx="2194560" cy="731520"/>
          </a:xfrm>
          <a:prstGeom prst="rect">
            <a:avLst/>
          </a:prstGeom>
          <a:noFill/>
          <a:ln/>
        </p:spPr>
        <p:txBody>
          <a:bodyPr wrap="square" lIns="0" tIns="0" rIns="0" bIns="0" rtlCol="0" anchor="ctr"/>
          <a:lstStyle/>
          <a:p>
            <a:pPr indent="0" marL="0">
              <a:buNone/>
            </a:pPr>
            <a:r>
              <a:rPr lang="en-US" sz="1800" b="1" dirty="0">
                <a:solidFill>
                  <a:srgbClr val="0F172A"/>
                </a:solidFill>
              </a:rPr>
              <a:t>Objectives &amp; questions</a:t>
            </a:r>
            <a:endParaRPr lang="en-US" sz="1800" dirty="0"/>
          </a:p>
        </p:txBody>
      </p:sp>
      <p:sp>
        <p:nvSpPr>
          <p:cNvPr id="12" name="Shape 10"/>
          <p:cNvSpPr/>
          <p:nvPr/>
        </p:nvSpPr>
        <p:spPr>
          <a:xfrm>
            <a:off x="6217920" y="1645920"/>
            <a:ext cx="2560320" cy="1828800"/>
          </a:xfrm>
          <a:prstGeom prst="roundRect">
            <a:avLst>
              <a:gd name="adj" fmla="val 6000"/>
            </a:avLst>
          </a:prstGeom>
          <a:solidFill>
            <a:srgbClr val="F1F5F9"/>
          </a:solidFill>
          <a:ln/>
        </p:spPr>
      </p:sp>
      <p:sp>
        <p:nvSpPr>
          <p:cNvPr id="13" name="Shape 11"/>
          <p:cNvSpPr/>
          <p:nvPr/>
        </p:nvSpPr>
        <p:spPr>
          <a:xfrm>
            <a:off x="6446520" y="1874520"/>
            <a:ext cx="502920" cy="502920"/>
          </a:xfrm>
          <a:prstGeom prst="ellipse">
            <a:avLst/>
          </a:prstGeom>
          <a:solidFill>
            <a:srgbClr val="0B1F3A"/>
          </a:solidFill>
          <a:ln/>
        </p:spPr>
      </p:sp>
      <p:sp>
        <p:nvSpPr>
          <p:cNvPr id="14" name="Text 12"/>
          <p:cNvSpPr txBox="1"/>
          <p:nvPr/>
        </p:nvSpPr>
        <p:spPr>
          <a:xfrm>
            <a:off x="6446520" y="18745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5" name="Text 13"/>
          <p:cNvSpPr txBox="1"/>
          <p:nvPr/>
        </p:nvSpPr>
        <p:spPr>
          <a:xfrm>
            <a:off x="6446520" y="2560320"/>
            <a:ext cx="2194560" cy="731520"/>
          </a:xfrm>
          <a:prstGeom prst="rect">
            <a:avLst/>
          </a:prstGeom>
          <a:noFill/>
          <a:ln/>
        </p:spPr>
        <p:txBody>
          <a:bodyPr wrap="square" lIns="0" tIns="0" rIns="0" bIns="0" rtlCol="0" anchor="ctr"/>
          <a:lstStyle/>
          <a:p>
            <a:pPr indent="0" marL="0">
              <a:buNone/>
            </a:pPr>
            <a:r>
              <a:rPr lang="en-US" sz="1800" b="1" dirty="0">
                <a:solidFill>
                  <a:srgbClr val="0F172A"/>
                </a:solidFill>
              </a:rPr>
              <a:t>Literature &amp; gap</a:t>
            </a:r>
            <a:endParaRPr lang="en-US" sz="1800" dirty="0"/>
          </a:p>
        </p:txBody>
      </p:sp>
      <p:sp>
        <p:nvSpPr>
          <p:cNvPr id="16" name="Shape 14"/>
          <p:cNvSpPr/>
          <p:nvPr/>
        </p:nvSpPr>
        <p:spPr>
          <a:xfrm>
            <a:off x="9052560" y="1645920"/>
            <a:ext cx="2560320" cy="1828800"/>
          </a:xfrm>
          <a:prstGeom prst="roundRect">
            <a:avLst>
              <a:gd name="adj" fmla="val 6000"/>
            </a:avLst>
          </a:prstGeom>
          <a:solidFill>
            <a:srgbClr val="F1F5F9"/>
          </a:solidFill>
          <a:ln/>
        </p:spPr>
      </p:sp>
      <p:sp>
        <p:nvSpPr>
          <p:cNvPr id="17" name="Shape 15"/>
          <p:cNvSpPr/>
          <p:nvPr/>
        </p:nvSpPr>
        <p:spPr>
          <a:xfrm>
            <a:off x="9281160" y="1874520"/>
            <a:ext cx="502920" cy="502920"/>
          </a:xfrm>
          <a:prstGeom prst="ellipse">
            <a:avLst/>
          </a:prstGeom>
          <a:solidFill>
            <a:srgbClr val="06B6D4"/>
          </a:solidFill>
          <a:ln/>
        </p:spPr>
      </p:sp>
      <p:sp>
        <p:nvSpPr>
          <p:cNvPr id="18" name="Text 16"/>
          <p:cNvSpPr txBox="1"/>
          <p:nvPr/>
        </p:nvSpPr>
        <p:spPr>
          <a:xfrm>
            <a:off x="9281160" y="18745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19" name="Text 17"/>
          <p:cNvSpPr txBox="1"/>
          <p:nvPr/>
        </p:nvSpPr>
        <p:spPr>
          <a:xfrm>
            <a:off x="9281160" y="2560320"/>
            <a:ext cx="2194560" cy="731520"/>
          </a:xfrm>
          <a:prstGeom prst="rect">
            <a:avLst/>
          </a:prstGeom>
          <a:noFill/>
          <a:ln/>
        </p:spPr>
        <p:txBody>
          <a:bodyPr wrap="square" lIns="0" tIns="0" rIns="0" bIns="0" rtlCol="0" anchor="ctr"/>
          <a:lstStyle/>
          <a:p>
            <a:pPr indent="0" marL="0">
              <a:buNone/>
            </a:pPr>
            <a:r>
              <a:rPr lang="en-US" sz="1800" b="1" dirty="0">
                <a:solidFill>
                  <a:srgbClr val="0F172A"/>
                </a:solidFill>
              </a:rPr>
              <a:t>Methodology</a:t>
            </a:r>
            <a:endParaRPr lang="en-US" sz="1800" dirty="0"/>
          </a:p>
        </p:txBody>
      </p:sp>
      <p:sp>
        <p:nvSpPr>
          <p:cNvPr id="20" name="Shape 18"/>
          <p:cNvSpPr/>
          <p:nvPr/>
        </p:nvSpPr>
        <p:spPr>
          <a:xfrm>
            <a:off x="548640" y="3840480"/>
            <a:ext cx="2560320" cy="1828800"/>
          </a:xfrm>
          <a:prstGeom prst="roundRect">
            <a:avLst>
              <a:gd name="adj" fmla="val 6000"/>
            </a:avLst>
          </a:prstGeom>
          <a:solidFill>
            <a:srgbClr val="F1F5F9"/>
          </a:solidFill>
          <a:ln/>
        </p:spPr>
      </p:sp>
      <p:sp>
        <p:nvSpPr>
          <p:cNvPr id="21" name="Shape 19"/>
          <p:cNvSpPr/>
          <p:nvPr/>
        </p:nvSpPr>
        <p:spPr>
          <a:xfrm>
            <a:off x="777240" y="4069080"/>
            <a:ext cx="502920" cy="502920"/>
          </a:xfrm>
          <a:prstGeom prst="ellipse">
            <a:avLst/>
          </a:prstGeom>
          <a:solidFill>
            <a:srgbClr val="0B1F3A"/>
          </a:solidFill>
          <a:ln/>
        </p:spPr>
      </p:sp>
      <p:sp>
        <p:nvSpPr>
          <p:cNvPr id="22" name="Text 20"/>
          <p:cNvSpPr txBox="1"/>
          <p:nvPr/>
        </p:nvSpPr>
        <p:spPr>
          <a:xfrm>
            <a:off x="777240" y="40690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23" name="Text 21"/>
          <p:cNvSpPr txBox="1"/>
          <p:nvPr/>
        </p:nvSpPr>
        <p:spPr>
          <a:xfrm>
            <a:off x="777240" y="4754880"/>
            <a:ext cx="2194560" cy="731520"/>
          </a:xfrm>
          <a:prstGeom prst="rect">
            <a:avLst/>
          </a:prstGeom>
          <a:noFill/>
          <a:ln/>
        </p:spPr>
        <p:txBody>
          <a:bodyPr wrap="square" lIns="0" tIns="0" rIns="0" bIns="0" rtlCol="0" anchor="ctr"/>
          <a:lstStyle/>
          <a:p>
            <a:pPr indent="0" marL="0">
              <a:buNone/>
            </a:pPr>
            <a:r>
              <a:rPr lang="en-US" sz="1800" b="1" dirty="0">
                <a:solidFill>
                  <a:srgbClr val="0F172A"/>
                </a:solidFill>
              </a:rPr>
              <a:t>Design</a:t>
            </a:r>
            <a:endParaRPr lang="en-US" sz="1800" dirty="0"/>
          </a:p>
        </p:txBody>
      </p:sp>
      <p:sp>
        <p:nvSpPr>
          <p:cNvPr id="24" name="Shape 22"/>
          <p:cNvSpPr/>
          <p:nvPr/>
        </p:nvSpPr>
        <p:spPr>
          <a:xfrm>
            <a:off x="3383280" y="3840480"/>
            <a:ext cx="2560320" cy="1828800"/>
          </a:xfrm>
          <a:prstGeom prst="roundRect">
            <a:avLst>
              <a:gd name="adj" fmla="val 6000"/>
            </a:avLst>
          </a:prstGeom>
          <a:solidFill>
            <a:srgbClr val="F1F5F9"/>
          </a:solidFill>
          <a:ln/>
        </p:spPr>
      </p:sp>
      <p:sp>
        <p:nvSpPr>
          <p:cNvPr id="25" name="Shape 23"/>
          <p:cNvSpPr/>
          <p:nvPr/>
        </p:nvSpPr>
        <p:spPr>
          <a:xfrm>
            <a:off x="3611880" y="4069080"/>
            <a:ext cx="502920" cy="502920"/>
          </a:xfrm>
          <a:prstGeom prst="ellipse">
            <a:avLst/>
          </a:prstGeom>
          <a:solidFill>
            <a:srgbClr val="06B6D4"/>
          </a:solidFill>
          <a:ln/>
        </p:spPr>
      </p:sp>
      <p:sp>
        <p:nvSpPr>
          <p:cNvPr id="26" name="Text 24"/>
          <p:cNvSpPr txBox="1"/>
          <p:nvPr/>
        </p:nvSpPr>
        <p:spPr>
          <a:xfrm>
            <a:off x="3611880" y="40690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6</a:t>
            </a:r>
            <a:endParaRPr lang="en-US" sz="1600" dirty="0"/>
          </a:p>
        </p:txBody>
      </p:sp>
      <p:sp>
        <p:nvSpPr>
          <p:cNvPr id="27" name="Text 25"/>
          <p:cNvSpPr txBox="1"/>
          <p:nvPr/>
        </p:nvSpPr>
        <p:spPr>
          <a:xfrm>
            <a:off x="3611880" y="4754880"/>
            <a:ext cx="2194560" cy="731520"/>
          </a:xfrm>
          <a:prstGeom prst="rect">
            <a:avLst/>
          </a:prstGeom>
          <a:noFill/>
          <a:ln/>
        </p:spPr>
        <p:txBody>
          <a:bodyPr wrap="square" lIns="0" tIns="0" rIns="0" bIns="0" rtlCol="0" anchor="ctr"/>
          <a:lstStyle/>
          <a:p>
            <a:pPr indent="0" marL="0">
              <a:buNone/>
            </a:pPr>
            <a:r>
              <a:rPr lang="en-US" sz="1800" b="1" dirty="0">
                <a:solidFill>
                  <a:srgbClr val="0F172A"/>
                </a:solidFill>
              </a:rPr>
              <a:t>Implementation (demo)</a:t>
            </a:r>
            <a:endParaRPr lang="en-US" sz="1800" dirty="0"/>
          </a:p>
        </p:txBody>
      </p:sp>
      <p:sp>
        <p:nvSpPr>
          <p:cNvPr id="28" name="Shape 26"/>
          <p:cNvSpPr/>
          <p:nvPr/>
        </p:nvSpPr>
        <p:spPr>
          <a:xfrm>
            <a:off x="6217920" y="3840480"/>
            <a:ext cx="2560320" cy="1828800"/>
          </a:xfrm>
          <a:prstGeom prst="roundRect">
            <a:avLst>
              <a:gd name="adj" fmla="val 6000"/>
            </a:avLst>
          </a:prstGeom>
          <a:solidFill>
            <a:srgbClr val="F1F5F9"/>
          </a:solidFill>
          <a:ln/>
        </p:spPr>
      </p:sp>
      <p:sp>
        <p:nvSpPr>
          <p:cNvPr id="29" name="Shape 27"/>
          <p:cNvSpPr/>
          <p:nvPr/>
        </p:nvSpPr>
        <p:spPr>
          <a:xfrm>
            <a:off x="6446520" y="4069080"/>
            <a:ext cx="502920" cy="502920"/>
          </a:xfrm>
          <a:prstGeom prst="ellipse">
            <a:avLst/>
          </a:prstGeom>
          <a:solidFill>
            <a:srgbClr val="0B1F3A"/>
          </a:solidFill>
          <a:ln/>
        </p:spPr>
      </p:sp>
      <p:sp>
        <p:nvSpPr>
          <p:cNvPr id="30" name="Text 28"/>
          <p:cNvSpPr txBox="1"/>
          <p:nvPr/>
        </p:nvSpPr>
        <p:spPr>
          <a:xfrm>
            <a:off x="6446520" y="40690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7</a:t>
            </a:r>
            <a:endParaRPr lang="en-US" sz="1600" dirty="0"/>
          </a:p>
        </p:txBody>
      </p:sp>
      <p:sp>
        <p:nvSpPr>
          <p:cNvPr id="31" name="Text 29"/>
          <p:cNvSpPr txBox="1"/>
          <p:nvPr/>
        </p:nvSpPr>
        <p:spPr>
          <a:xfrm>
            <a:off x="6446520" y="4754880"/>
            <a:ext cx="2194560" cy="731520"/>
          </a:xfrm>
          <a:prstGeom prst="rect">
            <a:avLst/>
          </a:prstGeom>
          <a:noFill/>
          <a:ln/>
        </p:spPr>
        <p:txBody>
          <a:bodyPr wrap="square" lIns="0" tIns="0" rIns="0" bIns="0" rtlCol="0" anchor="ctr"/>
          <a:lstStyle/>
          <a:p>
            <a:pPr indent="0" marL="0">
              <a:buNone/>
            </a:pPr>
            <a:r>
              <a:rPr lang="en-US" sz="1800" b="1" dirty="0">
                <a:solidFill>
                  <a:srgbClr val="0F172A"/>
                </a:solidFill>
              </a:rPr>
              <a:t>Testing &amp; results</a:t>
            </a:r>
            <a:endParaRPr lang="en-US" sz="1800" dirty="0"/>
          </a:p>
        </p:txBody>
      </p:sp>
      <p:sp>
        <p:nvSpPr>
          <p:cNvPr id="32" name="Shape 30"/>
          <p:cNvSpPr/>
          <p:nvPr/>
        </p:nvSpPr>
        <p:spPr>
          <a:xfrm>
            <a:off x="9052560" y="3840480"/>
            <a:ext cx="2560320" cy="1828800"/>
          </a:xfrm>
          <a:prstGeom prst="roundRect">
            <a:avLst>
              <a:gd name="adj" fmla="val 6000"/>
            </a:avLst>
          </a:prstGeom>
          <a:solidFill>
            <a:srgbClr val="F1F5F9"/>
          </a:solidFill>
          <a:ln/>
        </p:spPr>
      </p:sp>
      <p:sp>
        <p:nvSpPr>
          <p:cNvPr id="33" name="Shape 31"/>
          <p:cNvSpPr/>
          <p:nvPr/>
        </p:nvSpPr>
        <p:spPr>
          <a:xfrm>
            <a:off x="9281160" y="4069080"/>
            <a:ext cx="502920" cy="502920"/>
          </a:xfrm>
          <a:prstGeom prst="ellipse">
            <a:avLst/>
          </a:prstGeom>
          <a:solidFill>
            <a:srgbClr val="06B6D4"/>
          </a:solidFill>
          <a:ln/>
        </p:spPr>
      </p:sp>
      <p:sp>
        <p:nvSpPr>
          <p:cNvPr id="34" name="Text 32"/>
          <p:cNvSpPr txBox="1"/>
          <p:nvPr/>
        </p:nvSpPr>
        <p:spPr>
          <a:xfrm>
            <a:off x="9281160" y="40690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8</a:t>
            </a:r>
            <a:endParaRPr lang="en-US" sz="1600" dirty="0"/>
          </a:p>
        </p:txBody>
      </p:sp>
      <p:sp>
        <p:nvSpPr>
          <p:cNvPr id="35" name="Text 33"/>
          <p:cNvSpPr txBox="1"/>
          <p:nvPr/>
        </p:nvSpPr>
        <p:spPr>
          <a:xfrm>
            <a:off x="9281160" y="4754880"/>
            <a:ext cx="2194560" cy="731520"/>
          </a:xfrm>
          <a:prstGeom prst="rect">
            <a:avLst/>
          </a:prstGeom>
          <a:noFill/>
          <a:ln/>
        </p:spPr>
        <p:txBody>
          <a:bodyPr wrap="square" lIns="0" tIns="0" rIns="0" bIns="0" rtlCol="0" anchor="ctr"/>
          <a:lstStyle/>
          <a:p>
            <a:pPr indent="0" marL="0">
              <a:buNone/>
            </a:pPr>
            <a:r>
              <a:rPr lang="en-US" sz="1800" b="1" dirty="0">
                <a:solidFill>
                  <a:srgbClr val="0F172A"/>
                </a:solidFill>
              </a:rPr>
              <a:t>Limits &amp; next steps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00800"/>
            <a:ext cx="548640" cy="274320"/>
          </a:xfrm>
          <a:prstGeom prst="rect">
            <a:avLst/>
          </a:prstGeom>
          <a:noFill/>
          <a:ln/>
        </p:spPr>
        <p:txBody>
          <a:bodyPr wrap="square" lIns="0" tIns="0" rIns="0" bIns="0" rtlCol="0" anchor="ctr"/>
          <a:lstStyle/>
          <a:p>
            <a:pPr algn="r" indent="0" marL="0">
              <a:buNone/>
            </a:pPr>
            <a:r>
              <a:rPr lang="en-US" sz="1000" dirty="0">
                <a:solidFill>
                  <a:srgbClr val="64748B"/>
                </a:solidFill>
              </a:rPr>
              <a:t>3</a:t>
            </a:r>
            <a:endParaRPr lang="en-US" sz="1000" dirty="0"/>
          </a:p>
        </p:txBody>
      </p:sp>
      <p:sp>
        <p:nvSpPr>
          <p:cNvPr id="3" name="Text 1"/>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Phishing in Cameroon has a local face</a:t>
            </a:r>
            <a:endParaRPr lang="en-US" sz="3200" dirty="0"/>
          </a:p>
        </p:txBody>
      </p:sp>
      <p:sp>
        <p:nvSpPr>
          <p:cNvPr id="4" name="Text 2"/>
          <p:cNvSpPr txBox="1"/>
          <p:nvPr/>
        </p:nvSpPr>
        <p:spPr>
          <a:xfrm>
            <a:off x="548640" y="1005840"/>
            <a:ext cx="11064240" cy="411480"/>
          </a:xfrm>
          <a:prstGeom prst="rect">
            <a:avLst/>
          </a:prstGeom>
          <a:noFill/>
          <a:ln/>
        </p:spPr>
        <p:txBody>
          <a:bodyPr wrap="square" lIns="0" tIns="0" rIns="0" bIns="0" rtlCol="0" anchor="ctr"/>
          <a:lstStyle/>
          <a:p>
            <a:pPr indent="0" marL="0">
              <a:buNone/>
            </a:pPr>
            <a:r>
              <a:rPr lang="en-US" sz="1600" i="1" dirty="0">
                <a:solidFill>
                  <a:srgbClr val="64748B"/>
                </a:solidFill>
                <a:latin typeface="Calibri" pitchFamily="34" charset="0"/>
                <a:ea typeface="Calibri" pitchFamily="34" charset="-122"/>
                <a:cs typeface="Calibri" pitchFamily="34" charset="-120"/>
              </a:rPr>
              <a:t>Mobile money, French-language lures, SMS and WhatsApp</a:t>
            </a:r>
            <a:endParaRPr lang="en-US" sz="1600" dirty="0"/>
          </a:p>
        </p:txBody>
      </p:sp>
      <p:sp>
        <p:nvSpPr>
          <p:cNvPr id="5" name="Shape 3"/>
          <p:cNvSpPr/>
          <p:nvPr/>
        </p:nvSpPr>
        <p:spPr>
          <a:xfrm>
            <a:off x="548640" y="1737360"/>
            <a:ext cx="502920" cy="502920"/>
          </a:xfrm>
          <a:prstGeom prst="ellipse">
            <a:avLst/>
          </a:prstGeom>
          <a:solidFill>
            <a:srgbClr val="DC2626"/>
          </a:solidFill>
          <a:ln/>
        </p:spPr>
      </p:sp>
      <p:sp>
        <p:nvSpPr>
          <p:cNvPr id="6" name="Text 4"/>
          <p:cNvSpPr txBox="1"/>
          <p:nvPr/>
        </p:nvSpPr>
        <p:spPr>
          <a:xfrm>
            <a:off x="548640" y="17373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7" name="Text 5"/>
          <p:cNvSpPr txBox="1"/>
          <p:nvPr/>
        </p:nvSpPr>
        <p:spPr>
          <a:xfrm>
            <a:off x="1234440" y="1645920"/>
            <a:ext cx="5486400" cy="822960"/>
          </a:xfrm>
          <a:prstGeom prst="rect">
            <a:avLst/>
          </a:prstGeom>
          <a:noFill/>
          <a:ln/>
        </p:spPr>
        <p:txBody>
          <a:bodyPr wrap="square" lIns="0" tIns="0" rIns="0" bIns="0" rtlCol="0" anchor="ctr"/>
          <a:lstStyle/>
          <a:p>
            <a:pPr indent="0" marL="0">
              <a:buNone/>
            </a:pPr>
            <a:r>
              <a:rPr lang="en-US" sz="1700" b="1" dirty="0">
                <a:solidFill>
                  <a:srgbClr val="0F172A"/>
                </a:solidFill>
              </a:rPr>
              <a:t>MoMo suspension</a:t>
            </a:r>
            <a:endParaRPr lang="en-US" sz="1700" dirty="0"/>
          </a:p>
          <a:p>
            <a:pPr indent="0" marL="0">
              <a:buNone/>
            </a:pPr>
            <a:r>
              <a:rPr lang="en-US" sz="1400" i="1" dirty="0">
                <a:solidFill>
                  <a:srgbClr val="64748B"/>
                </a:solidFill>
              </a:rPr>
              <a:t>"Your account will be blocked in 24h, confirm your PIN on…"</a:t>
            </a:r>
            <a:endParaRPr lang="en-US" sz="1700" dirty="0"/>
          </a:p>
        </p:txBody>
      </p:sp>
      <p:sp>
        <p:nvSpPr>
          <p:cNvPr id="8" name="Shape 6"/>
          <p:cNvSpPr/>
          <p:nvPr/>
        </p:nvSpPr>
        <p:spPr>
          <a:xfrm>
            <a:off x="548640" y="2670048"/>
            <a:ext cx="502920" cy="502920"/>
          </a:xfrm>
          <a:prstGeom prst="ellipse">
            <a:avLst/>
          </a:prstGeom>
          <a:solidFill>
            <a:srgbClr val="F59E0B"/>
          </a:solidFill>
          <a:ln/>
        </p:spPr>
      </p:sp>
      <p:sp>
        <p:nvSpPr>
          <p:cNvPr id="9" name="Text 7"/>
          <p:cNvSpPr txBox="1"/>
          <p:nvPr/>
        </p:nvSpPr>
        <p:spPr>
          <a:xfrm>
            <a:off x="548640" y="267004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0" name="Text 8"/>
          <p:cNvSpPr txBox="1"/>
          <p:nvPr/>
        </p:nvSpPr>
        <p:spPr>
          <a:xfrm>
            <a:off x="1234440" y="2578608"/>
            <a:ext cx="5486400" cy="822960"/>
          </a:xfrm>
          <a:prstGeom prst="rect">
            <a:avLst/>
          </a:prstGeom>
          <a:noFill/>
          <a:ln/>
        </p:spPr>
        <p:txBody>
          <a:bodyPr wrap="square" lIns="0" tIns="0" rIns="0" bIns="0" rtlCol="0" anchor="ctr"/>
          <a:lstStyle/>
          <a:p>
            <a:pPr indent="0" marL="0">
              <a:buNone/>
            </a:pPr>
            <a:r>
              <a:rPr lang="en-US" sz="1700" b="1" dirty="0">
                <a:solidFill>
                  <a:srgbClr val="0F172A"/>
                </a:solidFill>
              </a:rPr>
              <a:t>Fake relative</a:t>
            </a:r>
            <a:endParaRPr lang="en-US" sz="1700" dirty="0"/>
          </a:p>
          <a:p>
            <a:pPr indent="0" marL="0">
              <a:buNone/>
            </a:pPr>
            <a:r>
              <a:rPr lang="en-US" sz="1400" i="1" dirty="0">
                <a:solidFill>
                  <a:srgbClr val="64748B"/>
                </a:solidFill>
              </a:rPr>
              <a:t>"Mum, I changed number, send 25 000 FCFA urgently"</a:t>
            </a:r>
            <a:endParaRPr lang="en-US" sz="1700" dirty="0"/>
          </a:p>
        </p:txBody>
      </p:sp>
      <p:sp>
        <p:nvSpPr>
          <p:cNvPr id="11" name="Shape 9"/>
          <p:cNvSpPr/>
          <p:nvPr/>
        </p:nvSpPr>
        <p:spPr>
          <a:xfrm>
            <a:off x="548640" y="3602736"/>
            <a:ext cx="502920" cy="502920"/>
          </a:xfrm>
          <a:prstGeom prst="ellipse">
            <a:avLst/>
          </a:prstGeom>
          <a:solidFill>
            <a:srgbClr val="F59E0B"/>
          </a:solidFill>
          <a:ln/>
        </p:spPr>
      </p:sp>
      <p:sp>
        <p:nvSpPr>
          <p:cNvPr id="12" name="Text 10"/>
          <p:cNvSpPr txBox="1"/>
          <p:nvPr/>
        </p:nvSpPr>
        <p:spPr>
          <a:xfrm>
            <a:off x="548640" y="3602736"/>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3" name="Text 11"/>
          <p:cNvSpPr txBox="1"/>
          <p:nvPr/>
        </p:nvSpPr>
        <p:spPr>
          <a:xfrm>
            <a:off x="1234440" y="3511296"/>
            <a:ext cx="5486400" cy="822960"/>
          </a:xfrm>
          <a:prstGeom prst="rect">
            <a:avLst/>
          </a:prstGeom>
          <a:noFill/>
          <a:ln/>
        </p:spPr>
        <p:txBody>
          <a:bodyPr wrap="square" lIns="0" tIns="0" rIns="0" bIns="0" rtlCol="0" anchor="ctr"/>
          <a:lstStyle/>
          <a:p>
            <a:pPr indent="0" marL="0">
              <a:buNone/>
            </a:pPr>
            <a:r>
              <a:rPr lang="en-US" sz="1700" b="1" dirty="0">
                <a:solidFill>
                  <a:srgbClr val="0F172A"/>
                </a:solidFill>
              </a:rPr>
              <a:t>ENEO bill</a:t>
            </a:r>
            <a:endParaRPr lang="en-US" sz="1700" dirty="0"/>
          </a:p>
          <a:p>
            <a:pPr indent="0" marL="0">
              <a:buNone/>
            </a:pPr>
            <a:r>
              <a:rPr lang="en-US" sz="1400" i="1" dirty="0">
                <a:solidFill>
                  <a:srgbClr val="64748B"/>
                </a:solidFill>
              </a:rPr>
              <a:t>"Unpaid bill, power cut today at 5 p.m."</a:t>
            </a:r>
            <a:endParaRPr lang="en-US" sz="1700" dirty="0"/>
          </a:p>
        </p:txBody>
      </p:sp>
      <p:sp>
        <p:nvSpPr>
          <p:cNvPr id="14" name="Shape 12"/>
          <p:cNvSpPr/>
          <p:nvPr/>
        </p:nvSpPr>
        <p:spPr>
          <a:xfrm>
            <a:off x="548640" y="4535424"/>
            <a:ext cx="502920" cy="502920"/>
          </a:xfrm>
          <a:prstGeom prst="ellipse">
            <a:avLst/>
          </a:prstGeom>
          <a:solidFill>
            <a:srgbClr val="DC2626"/>
          </a:solidFill>
          <a:ln/>
        </p:spPr>
      </p:sp>
      <p:sp>
        <p:nvSpPr>
          <p:cNvPr id="15" name="Text 13"/>
          <p:cNvSpPr txBox="1"/>
          <p:nvPr/>
        </p:nvSpPr>
        <p:spPr>
          <a:xfrm>
            <a:off x="548640" y="4535424"/>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6" name="Text 14"/>
          <p:cNvSpPr txBox="1"/>
          <p:nvPr/>
        </p:nvSpPr>
        <p:spPr>
          <a:xfrm>
            <a:off x="1234440" y="4443984"/>
            <a:ext cx="5486400" cy="822960"/>
          </a:xfrm>
          <a:prstGeom prst="rect">
            <a:avLst/>
          </a:prstGeom>
          <a:noFill/>
          <a:ln/>
        </p:spPr>
        <p:txBody>
          <a:bodyPr wrap="square" lIns="0" tIns="0" rIns="0" bIns="0" rtlCol="0" anchor="ctr"/>
          <a:lstStyle/>
          <a:p>
            <a:pPr indent="0" marL="0">
              <a:buNone/>
            </a:pPr>
            <a:r>
              <a:rPr lang="en-US" sz="1700" b="1" dirty="0">
                <a:solidFill>
                  <a:srgbClr val="0F172A"/>
                </a:solidFill>
              </a:rPr>
              <a:t>Bank alert</a:t>
            </a:r>
            <a:endParaRPr lang="en-US" sz="1700" dirty="0"/>
          </a:p>
          <a:p>
            <a:pPr indent="0" marL="0">
              <a:buNone/>
            </a:pPr>
            <a:r>
              <a:rPr lang="en-US" sz="1400" i="1" dirty="0">
                <a:solidFill>
                  <a:srgbClr val="64748B"/>
                </a:solidFill>
              </a:rPr>
              <a:t>"Afriland: suspicious activity, log in at afriland-secure…"</a:t>
            </a:r>
            <a:endParaRPr lang="en-US" sz="1700" dirty="0"/>
          </a:p>
        </p:txBody>
      </p:sp>
      <p:sp>
        <p:nvSpPr>
          <p:cNvPr id="17" name="Shape 15"/>
          <p:cNvSpPr/>
          <p:nvPr/>
        </p:nvSpPr>
        <p:spPr>
          <a:xfrm>
            <a:off x="548640" y="5468112"/>
            <a:ext cx="502920" cy="502920"/>
          </a:xfrm>
          <a:prstGeom prst="ellipse">
            <a:avLst/>
          </a:prstGeom>
          <a:solidFill>
            <a:srgbClr val="06B6D4"/>
          </a:solidFill>
          <a:ln/>
        </p:spPr>
      </p:sp>
      <p:sp>
        <p:nvSpPr>
          <p:cNvPr id="18" name="Text 16"/>
          <p:cNvSpPr txBox="1"/>
          <p:nvPr/>
        </p:nvSpPr>
        <p:spPr>
          <a:xfrm>
            <a:off x="548640" y="546811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9" name="Text 17"/>
          <p:cNvSpPr txBox="1"/>
          <p:nvPr/>
        </p:nvSpPr>
        <p:spPr>
          <a:xfrm>
            <a:off x="1234440" y="5376672"/>
            <a:ext cx="5486400" cy="822960"/>
          </a:xfrm>
          <a:prstGeom prst="rect">
            <a:avLst/>
          </a:prstGeom>
          <a:noFill/>
          <a:ln/>
        </p:spPr>
        <p:txBody>
          <a:bodyPr wrap="square" lIns="0" tIns="0" rIns="0" bIns="0" rtlCol="0" anchor="ctr"/>
          <a:lstStyle/>
          <a:p>
            <a:pPr indent="0" marL="0">
              <a:buNone/>
            </a:pPr>
            <a:r>
              <a:rPr lang="en-US" sz="1700" b="1" dirty="0">
                <a:solidFill>
                  <a:srgbClr val="0F172A"/>
                </a:solidFill>
              </a:rPr>
              <a:t>Prize / job</a:t>
            </a:r>
            <a:endParaRPr lang="en-US" sz="1700" dirty="0"/>
          </a:p>
          <a:p>
            <a:pPr indent="0" marL="0">
              <a:buNone/>
            </a:pPr>
            <a:r>
              <a:rPr lang="en-US" sz="1400" i="1" dirty="0">
                <a:solidFill>
                  <a:srgbClr val="64748B"/>
                </a:solidFill>
              </a:rPr>
              <a:t>"You won 500 000 FCFA, pay 5 000 FCFA fees"</a:t>
            </a:r>
            <a:endParaRPr lang="en-US" sz="1700" dirty="0"/>
          </a:p>
        </p:txBody>
      </p:sp>
      <p:sp>
        <p:nvSpPr>
          <p:cNvPr id="20" name="Shape 18"/>
          <p:cNvSpPr/>
          <p:nvPr/>
        </p:nvSpPr>
        <p:spPr>
          <a:xfrm>
            <a:off x="7223760" y="1645920"/>
            <a:ext cx="4389120" cy="4480560"/>
          </a:xfrm>
          <a:prstGeom prst="roundRect">
            <a:avLst>
              <a:gd name="adj" fmla="val 3125"/>
            </a:avLst>
          </a:prstGeom>
          <a:solidFill>
            <a:srgbClr val="0B1F3A"/>
          </a:solidFill>
          <a:ln/>
        </p:spPr>
      </p:sp>
      <p:sp>
        <p:nvSpPr>
          <p:cNvPr id="21" name="Text 19"/>
          <p:cNvSpPr txBox="1"/>
          <p:nvPr/>
        </p:nvSpPr>
        <p:spPr>
          <a:xfrm>
            <a:off x="7498080" y="1828800"/>
            <a:ext cx="3931920" cy="4023360"/>
          </a:xfrm>
          <a:prstGeom prst="rect">
            <a:avLst/>
          </a:prstGeom>
          <a:noFill/>
          <a:ln/>
        </p:spPr>
        <p:txBody>
          <a:bodyPr wrap="square" rtlCol="0" anchor="t"/>
          <a:lstStyle/>
          <a:p>
            <a:pPr indent="0" marL="0">
              <a:spcAft>
                <a:spcPts val="1000"/>
              </a:spcAft>
              <a:buNone/>
            </a:pPr>
            <a:r>
              <a:rPr lang="en-US" sz="2000" b="1" dirty="0">
                <a:solidFill>
                  <a:srgbClr val="06B6D4"/>
                </a:solidFill>
              </a:rPr>
              <a:t>Why existing tools fail</a:t>
            </a:r>
            <a:endParaRPr lang="en-US" sz="1700" dirty="0"/>
          </a:p>
          <a:p>
            <a:pPr marL="342900" indent="-342900">
              <a:spcAft>
                <a:spcPts val="1000"/>
              </a:spcAft>
              <a:buSzPct val="100000"/>
              <a:buChar char="•"/>
            </a:pPr>
            <a:r>
              <a:rPr lang="en-US" sz="1700" dirty="0">
                <a:solidFill>
                  <a:srgbClr val="FFFFFF"/>
                </a:solidFill>
              </a:rPr>
              <a:t>Built for English corporate e-mail</a:t>
            </a:r>
            <a:endParaRPr lang="en-US" sz="1700" dirty="0"/>
          </a:p>
          <a:p>
            <a:pPr marL="342900" indent="-342900">
              <a:spcAft>
                <a:spcPts val="1000"/>
              </a:spcAft>
              <a:buSzPct val="100000"/>
              <a:buChar char="•"/>
            </a:pPr>
            <a:r>
              <a:rPr lang="en-US" sz="1700" dirty="0">
                <a:solidFill>
                  <a:srgbClr val="FFFFFF"/>
                </a:solidFill>
              </a:rPr>
              <a:t>Blind to messages with no link</a:t>
            </a:r>
            <a:endParaRPr lang="en-US" sz="1700" dirty="0"/>
          </a:p>
          <a:p>
            <a:pPr marL="342900" indent="-342900">
              <a:spcAft>
                <a:spcPts val="1000"/>
              </a:spcAft>
              <a:buSzPct val="100000"/>
              <a:buChar char="•"/>
            </a:pPr>
            <a:r>
              <a:rPr lang="en-US" sz="1700" dirty="0">
                <a:solidFill>
                  <a:srgbClr val="FFFFFF"/>
                </a:solidFill>
              </a:rPr>
              <a:t>Block without explaining</a:t>
            </a:r>
            <a:endParaRPr lang="en-US" sz="1700" dirty="0"/>
          </a:p>
          <a:p>
            <a:pPr marL="342900" indent="-342900">
              <a:spcAft>
                <a:spcPts val="1000"/>
              </a:spcAft>
              <a:buSzPct val="100000"/>
              <a:buChar char="•"/>
            </a:pPr>
            <a:r>
              <a:rPr lang="en-US" sz="1700" dirty="0">
                <a:solidFill>
                  <a:srgbClr val="FFFFFF"/>
                </a:solidFill>
              </a:rPr>
              <a:t>No local view of campaigns</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00800"/>
            <a:ext cx="548640" cy="274320"/>
          </a:xfrm>
          <a:prstGeom prst="rect">
            <a:avLst/>
          </a:prstGeom>
          <a:noFill/>
          <a:ln/>
        </p:spPr>
        <p:txBody>
          <a:bodyPr wrap="square" lIns="0" tIns="0" rIns="0" bIns="0" rtlCol="0" anchor="ctr"/>
          <a:lstStyle/>
          <a:p>
            <a:pPr algn="r" indent="0" marL="0">
              <a:buNone/>
            </a:pPr>
            <a:r>
              <a:rPr lang="en-US" sz="1000" dirty="0">
                <a:solidFill>
                  <a:srgbClr val="64748B"/>
                </a:solidFill>
              </a:rPr>
              <a:t>4</a:t>
            </a:r>
            <a:endParaRPr lang="en-US" sz="1000" dirty="0"/>
          </a:p>
        </p:txBody>
      </p:sp>
      <p:sp>
        <p:nvSpPr>
          <p:cNvPr id="3" name="Text 1"/>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Problem and objectives</a:t>
            </a:r>
            <a:endParaRPr lang="en-US" sz="3200" dirty="0"/>
          </a:p>
        </p:txBody>
      </p:sp>
      <p:sp>
        <p:nvSpPr>
          <p:cNvPr id="4" name="Shape 2"/>
          <p:cNvSpPr/>
          <p:nvPr/>
        </p:nvSpPr>
        <p:spPr>
          <a:xfrm>
            <a:off x="548640" y="1371600"/>
            <a:ext cx="11064240" cy="1005840"/>
          </a:xfrm>
          <a:prstGeom prst="roundRect">
            <a:avLst>
              <a:gd name="adj" fmla="val 9091"/>
            </a:avLst>
          </a:prstGeom>
          <a:solidFill>
            <a:srgbClr val="FEF2F2"/>
          </a:solidFill>
          <a:ln/>
        </p:spPr>
      </p:sp>
      <p:sp>
        <p:nvSpPr>
          <p:cNvPr id="5" name="Text 3"/>
          <p:cNvSpPr txBox="1"/>
          <p:nvPr/>
        </p:nvSpPr>
        <p:spPr>
          <a:xfrm>
            <a:off x="822960" y="1371600"/>
            <a:ext cx="10607040" cy="1005840"/>
          </a:xfrm>
          <a:prstGeom prst="rect">
            <a:avLst/>
          </a:prstGeom>
          <a:noFill/>
          <a:ln/>
        </p:spPr>
        <p:txBody>
          <a:bodyPr wrap="square" lIns="0" tIns="0" rIns="0" bIns="0" rtlCol="0" anchor="ctr"/>
          <a:lstStyle/>
          <a:p>
            <a:pPr indent="0" marL="0">
              <a:buNone/>
            </a:pPr>
            <a:r>
              <a:rPr lang="en-US" sz="1800" b="1" dirty="0">
                <a:solidFill>
                  <a:srgbClr val="7F1D1D"/>
                </a:solidFill>
              </a:rPr>
              <a:t>Problem: no accessible, explainable and context-aware tool lets Cameroonian citizens check a suspicious message and learn from it.</a:t>
            </a:r>
            <a:endParaRPr lang="en-US" sz="1800" dirty="0"/>
          </a:p>
        </p:txBody>
      </p:sp>
      <p:sp>
        <p:nvSpPr>
          <p:cNvPr id="6" name="Shape 4"/>
          <p:cNvSpPr/>
          <p:nvPr/>
        </p:nvSpPr>
        <p:spPr>
          <a:xfrm>
            <a:off x="548640" y="2743200"/>
            <a:ext cx="2560320" cy="3108960"/>
          </a:xfrm>
          <a:prstGeom prst="roundRect">
            <a:avLst>
              <a:gd name="adj" fmla="val 4286"/>
            </a:avLst>
          </a:prstGeom>
          <a:solidFill>
            <a:srgbClr val="F1F5F9"/>
          </a:solidFill>
          <a:ln/>
        </p:spPr>
      </p:sp>
      <p:sp>
        <p:nvSpPr>
          <p:cNvPr id="7" name="Shape 5"/>
          <p:cNvSpPr/>
          <p:nvPr/>
        </p:nvSpPr>
        <p:spPr>
          <a:xfrm>
            <a:off x="777240" y="2971800"/>
            <a:ext cx="502920" cy="502920"/>
          </a:xfrm>
          <a:prstGeom prst="ellipse">
            <a:avLst/>
          </a:prstGeom>
          <a:solidFill>
            <a:srgbClr val="0B1F3A"/>
          </a:solidFill>
          <a:ln/>
        </p:spPr>
      </p:sp>
      <p:sp>
        <p:nvSpPr>
          <p:cNvPr id="8" name="Text 6"/>
          <p:cNvSpPr txBox="1"/>
          <p:nvPr/>
        </p:nvSpPr>
        <p:spPr>
          <a:xfrm>
            <a:off x="777240" y="29718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9" name="Text 7"/>
          <p:cNvSpPr txBox="1"/>
          <p:nvPr/>
        </p:nvSpPr>
        <p:spPr>
          <a:xfrm>
            <a:off x="777240" y="3657600"/>
            <a:ext cx="2194560" cy="548640"/>
          </a:xfrm>
          <a:prstGeom prst="rect">
            <a:avLst/>
          </a:prstGeom>
          <a:noFill/>
          <a:ln/>
        </p:spPr>
        <p:txBody>
          <a:bodyPr wrap="square" lIns="0" tIns="0" rIns="0" bIns="0" rtlCol="0" anchor="ctr"/>
          <a:lstStyle/>
          <a:p>
            <a:pPr indent="0" marL="0">
              <a:buNone/>
            </a:pPr>
            <a:r>
              <a:rPr lang="en-US" sz="1900" b="1" dirty="0">
                <a:solidFill>
                  <a:srgbClr val="0F172A"/>
                </a:solidFill>
              </a:rPr>
              <a:t>Hybrid engine</a:t>
            </a:r>
            <a:endParaRPr lang="en-US" sz="1900" dirty="0"/>
          </a:p>
        </p:txBody>
      </p:sp>
      <p:sp>
        <p:nvSpPr>
          <p:cNvPr id="10" name="Text 8"/>
          <p:cNvSpPr txBox="1"/>
          <p:nvPr/>
        </p:nvSpPr>
        <p:spPr>
          <a:xfrm>
            <a:off x="777240" y="4251960"/>
            <a:ext cx="2194560" cy="1371600"/>
          </a:xfrm>
          <a:prstGeom prst="rect">
            <a:avLst/>
          </a:prstGeom>
          <a:noFill/>
          <a:ln/>
        </p:spPr>
        <p:txBody>
          <a:bodyPr wrap="square" lIns="0" tIns="0" rIns="0" bIns="0" rtlCol="0" anchor="t"/>
          <a:lstStyle/>
          <a:p>
            <a:pPr indent="0" marL="0">
              <a:buNone/>
            </a:pPr>
            <a:r>
              <a:rPr lang="en-US" sz="1500" dirty="0">
                <a:solidFill>
                  <a:srgbClr val="64748B"/>
                </a:solidFill>
              </a:rPr>
              <a:t>F1 ≥ 0.85, false alarms &lt; 15 % on held-out local messages</a:t>
            </a:r>
            <a:endParaRPr lang="en-US" sz="1500" dirty="0"/>
          </a:p>
        </p:txBody>
      </p:sp>
      <p:sp>
        <p:nvSpPr>
          <p:cNvPr id="11" name="Shape 9"/>
          <p:cNvSpPr/>
          <p:nvPr/>
        </p:nvSpPr>
        <p:spPr>
          <a:xfrm>
            <a:off x="3383280" y="2743200"/>
            <a:ext cx="2560320" cy="3108960"/>
          </a:xfrm>
          <a:prstGeom prst="roundRect">
            <a:avLst>
              <a:gd name="adj" fmla="val 4286"/>
            </a:avLst>
          </a:prstGeom>
          <a:solidFill>
            <a:srgbClr val="F1F5F9"/>
          </a:solidFill>
          <a:ln/>
        </p:spPr>
      </p:sp>
      <p:sp>
        <p:nvSpPr>
          <p:cNvPr id="12" name="Shape 10"/>
          <p:cNvSpPr/>
          <p:nvPr/>
        </p:nvSpPr>
        <p:spPr>
          <a:xfrm>
            <a:off x="3611880" y="2971800"/>
            <a:ext cx="502920" cy="502920"/>
          </a:xfrm>
          <a:prstGeom prst="ellipse">
            <a:avLst/>
          </a:prstGeom>
          <a:solidFill>
            <a:srgbClr val="0B1F3A"/>
          </a:solidFill>
          <a:ln/>
        </p:spPr>
      </p:sp>
      <p:sp>
        <p:nvSpPr>
          <p:cNvPr id="13" name="Text 11"/>
          <p:cNvSpPr txBox="1"/>
          <p:nvPr/>
        </p:nvSpPr>
        <p:spPr>
          <a:xfrm>
            <a:off x="3611880" y="29718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4" name="Text 12"/>
          <p:cNvSpPr txBox="1"/>
          <p:nvPr/>
        </p:nvSpPr>
        <p:spPr>
          <a:xfrm>
            <a:off x="3611880" y="3657600"/>
            <a:ext cx="2194560" cy="548640"/>
          </a:xfrm>
          <a:prstGeom prst="rect">
            <a:avLst/>
          </a:prstGeom>
          <a:noFill/>
          <a:ln/>
        </p:spPr>
        <p:txBody>
          <a:bodyPr wrap="square" lIns="0" tIns="0" rIns="0" bIns="0" rtlCol="0" anchor="ctr"/>
          <a:lstStyle/>
          <a:p>
            <a:pPr indent="0" marL="0">
              <a:buNone/>
            </a:pPr>
            <a:r>
              <a:rPr lang="en-US" sz="1900" b="1" dirty="0">
                <a:solidFill>
                  <a:srgbClr val="0F172A"/>
                </a:solidFill>
              </a:rPr>
              <a:t>Multi-channel platform</a:t>
            </a:r>
            <a:endParaRPr lang="en-US" sz="1900" dirty="0"/>
          </a:p>
        </p:txBody>
      </p:sp>
      <p:sp>
        <p:nvSpPr>
          <p:cNvPr id="15" name="Text 13"/>
          <p:cNvSpPr txBox="1"/>
          <p:nvPr/>
        </p:nvSpPr>
        <p:spPr>
          <a:xfrm>
            <a:off x="3611880" y="4251960"/>
            <a:ext cx="2194560" cy="1371600"/>
          </a:xfrm>
          <a:prstGeom prst="rect">
            <a:avLst/>
          </a:prstGeom>
          <a:noFill/>
          <a:ln/>
        </p:spPr>
        <p:txBody>
          <a:bodyPr wrap="square" lIns="0" tIns="0" rIns="0" bIns="0" rtlCol="0" anchor="t"/>
          <a:lstStyle/>
          <a:p>
            <a:pPr indent="0" marL="0">
              <a:buNone/>
            </a:pPr>
            <a:r>
              <a:rPr lang="en-US" sz="1500" dirty="0">
                <a:solidFill>
                  <a:srgbClr val="64748B"/>
                </a:solidFill>
              </a:rPr>
              <a:t>Text, link, screenshot, e-mail, mailbox; median &lt; 10 s</a:t>
            </a:r>
            <a:endParaRPr lang="en-US" sz="1500" dirty="0"/>
          </a:p>
        </p:txBody>
      </p:sp>
      <p:sp>
        <p:nvSpPr>
          <p:cNvPr id="16" name="Shape 14"/>
          <p:cNvSpPr/>
          <p:nvPr/>
        </p:nvSpPr>
        <p:spPr>
          <a:xfrm>
            <a:off x="6217920" y="2743200"/>
            <a:ext cx="2560320" cy="3108960"/>
          </a:xfrm>
          <a:prstGeom prst="roundRect">
            <a:avLst>
              <a:gd name="adj" fmla="val 4286"/>
            </a:avLst>
          </a:prstGeom>
          <a:solidFill>
            <a:srgbClr val="F1F5F9"/>
          </a:solidFill>
          <a:ln/>
        </p:spPr>
      </p:sp>
      <p:sp>
        <p:nvSpPr>
          <p:cNvPr id="17" name="Shape 15"/>
          <p:cNvSpPr/>
          <p:nvPr/>
        </p:nvSpPr>
        <p:spPr>
          <a:xfrm>
            <a:off x="6446520" y="2971800"/>
            <a:ext cx="502920" cy="502920"/>
          </a:xfrm>
          <a:prstGeom prst="ellipse">
            <a:avLst/>
          </a:prstGeom>
          <a:solidFill>
            <a:srgbClr val="0B1F3A"/>
          </a:solidFill>
          <a:ln/>
        </p:spPr>
      </p:sp>
      <p:sp>
        <p:nvSpPr>
          <p:cNvPr id="18" name="Text 16"/>
          <p:cNvSpPr txBox="1"/>
          <p:nvPr/>
        </p:nvSpPr>
        <p:spPr>
          <a:xfrm>
            <a:off x="6446520" y="29718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9" name="Text 17"/>
          <p:cNvSpPr txBox="1"/>
          <p:nvPr/>
        </p:nvSpPr>
        <p:spPr>
          <a:xfrm>
            <a:off x="6446520" y="3657600"/>
            <a:ext cx="2194560" cy="548640"/>
          </a:xfrm>
          <a:prstGeom prst="rect">
            <a:avLst/>
          </a:prstGeom>
          <a:noFill/>
          <a:ln/>
        </p:spPr>
        <p:txBody>
          <a:bodyPr wrap="square" lIns="0" tIns="0" rIns="0" bIns="0" rtlCol="0" anchor="ctr"/>
          <a:lstStyle/>
          <a:p>
            <a:pPr indent="0" marL="0">
              <a:buNone/>
            </a:pPr>
            <a:r>
              <a:rPr lang="en-US" sz="1900" b="1" dirty="0">
                <a:solidFill>
                  <a:srgbClr val="0F172A"/>
                </a:solidFill>
              </a:rPr>
              <a:t>Awareness</a:t>
            </a:r>
            <a:endParaRPr lang="en-US" sz="1900" dirty="0"/>
          </a:p>
        </p:txBody>
      </p:sp>
      <p:sp>
        <p:nvSpPr>
          <p:cNvPr id="20" name="Text 18"/>
          <p:cNvSpPr txBox="1"/>
          <p:nvPr/>
        </p:nvSpPr>
        <p:spPr>
          <a:xfrm>
            <a:off x="6446520" y="4251960"/>
            <a:ext cx="2194560" cy="1371600"/>
          </a:xfrm>
          <a:prstGeom prst="rect">
            <a:avLst/>
          </a:prstGeom>
          <a:noFill/>
          <a:ln/>
        </p:spPr>
        <p:txBody>
          <a:bodyPr wrap="square" lIns="0" tIns="0" rIns="0" bIns="0" rtlCol="0" anchor="t"/>
          <a:lstStyle/>
          <a:p>
            <a:pPr indent="0" marL="0">
              <a:buNone/>
            </a:pPr>
            <a:r>
              <a:rPr lang="en-US" sz="1500" dirty="0">
                <a:solidFill>
                  <a:srgbClr val="64748B"/>
                </a:solidFill>
              </a:rPr>
              <a:t>Highlighted cues, actions, quiz</a:t>
            </a:r>
            <a:endParaRPr lang="en-US" sz="1500" dirty="0"/>
          </a:p>
        </p:txBody>
      </p:sp>
      <p:sp>
        <p:nvSpPr>
          <p:cNvPr id="21" name="Shape 19"/>
          <p:cNvSpPr/>
          <p:nvPr/>
        </p:nvSpPr>
        <p:spPr>
          <a:xfrm>
            <a:off x="9052560" y="2743200"/>
            <a:ext cx="2560320" cy="3108960"/>
          </a:xfrm>
          <a:prstGeom prst="roundRect">
            <a:avLst>
              <a:gd name="adj" fmla="val 4286"/>
            </a:avLst>
          </a:prstGeom>
          <a:solidFill>
            <a:srgbClr val="F1F5F9"/>
          </a:solidFill>
          <a:ln/>
        </p:spPr>
      </p:sp>
      <p:sp>
        <p:nvSpPr>
          <p:cNvPr id="22" name="Shape 20"/>
          <p:cNvSpPr/>
          <p:nvPr/>
        </p:nvSpPr>
        <p:spPr>
          <a:xfrm>
            <a:off x="9281160" y="2971800"/>
            <a:ext cx="502920" cy="502920"/>
          </a:xfrm>
          <a:prstGeom prst="ellipse">
            <a:avLst/>
          </a:prstGeom>
          <a:solidFill>
            <a:srgbClr val="0B1F3A"/>
          </a:solidFill>
          <a:ln/>
        </p:spPr>
      </p:sp>
      <p:sp>
        <p:nvSpPr>
          <p:cNvPr id="23" name="Text 21"/>
          <p:cNvSpPr txBox="1"/>
          <p:nvPr/>
        </p:nvSpPr>
        <p:spPr>
          <a:xfrm>
            <a:off x="9281160" y="29718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4" name="Text 22"/>
          <p:cNvSpPr txBox="1"/>
          <p:nvPr/>
        </p:nvSpPr>
        <p:spPr>
          <a:xfrm>
            <a:off x="9281160" y="3657600"/>
            <a:ext cx="2194560" cy="548640"/>
          </a:xfrm>
          <a:prstGeom prst="rect">
            <a:avLst/>
          </a:prstGeom>
          <a:noFill/>
          <a:ln/>
        </p:spPr>
        <p:txBody>
          <a:bodyPr wrap="square" lIns="0" tIns="0" rIns="0" bIns="0" rtlCol="0" anchor="ctr"/>
          <a:lstStyle/>
          <a:p>
            <a:pPr indent="0" marL="0">
              <a:buNone/>
            </a:pPr>
            <a:r>
              <a:rPr lang="en-US" sz="1900" b="1" dirty="0">
                <a:solidFill>
                  <a:srgbClr val="0F172A"/>
                </a:solidFill>
              </a:rPr>
              <a:t>Secured SOC</a:t>
            </a:r>
            <a:endParaRPr lang="en-US" sz="1900" dirty="0"/>
          </a:p>
        </p:txBody>
      </p:sp>
      <p:sp>
        <p:nvSpPr>
          <p:cNvPr id="25" name="Text 23"/>
          <p:cNvSpPr txBox="1"/>
          <p:nvPr/>
        </p:nvSpPr>
        <p:spPr>
          <a:xfrm>
            <a:off x="9281160" y="4251960"/>
            <a:ext cx="2194560" cy="1371600"/>
          </a:xfrm>
          <a:prstGeom prst="rect">
            <a:avLst/>
          </a:prstGeom>
          <a:noFill/>
          <a:ln/>
        </p:spPr>
        <p:txBody>
          <a:bodyPr wrap="square" lIns="0" tIns="0" rIns="0" bIns="0" rtlCol="0" anchor="t"/>
          <a:lstStyle/>
          <a:p>
            <a:pPr indent="0" marL="0">
              <a:buNone/>
            </a:pPr>
            <a:r>
              <a:rPr lang="en-US" sz="1500" dirty="0">
                <a:solidFill>
                  <a:srgbClr val="64748B"/>
                </a:solidFill>
              </a:rPr>
              <a:t>Approval, triage, incidents, radar, audit, sudo</a:t>
            </a:r>
            <a:endParaRPr lang="en-US" sz="1500" dirty="0"/>
          </a:p>
        </p:txBody>
      </p:sp>
      <p:sp>
        <p:nvSpPr>
          <p:cNvPr id="26" name="Text 24"/>
          <p:cNvSpPr txBox="1"/>
          <p:nvPr/>
        </p:nvSpPr>
        <p:spPr>
          <a:xfrm>
            <a:off x="548640" y="5989320"/>
            <a:ext cx="10972800" cy="411480"/>
          </a:xfrm>
          <a:prstGeom prst="rect">
            <a:avLst/>
          </a:prstGeom>
          <a:noFill/>
          <a:ln/>
        </p:spPr>
        <p:txBody>
          <a:bodyPr wrap="square" lIns="0" tIns="0" rIns="0" bIns="0" rtlCol="0" anchor="ctr"/>
          <a:lstStyle/>
          <a:p>
            <a:pPr indent="0" marL="0">
              <a:buNone/>
            </a:pPr>
            <a:r>
              <a:rPr lang="en-US" sz="1300" i="1" dirty="0">
                <a:solidFill>
                  <a:srgbClr val="64748B"/>
                </a:solidFill>
              </a:rPr>
              <a:t>General objective: design, implement and evaluate an AI-based web platform that detects phishing targeting Cameroonians and raises their awareness.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00800"/>
            <a:ext cx="548640" cy="274320"/>
          </a:xfrm>
          <a:prstGeom prst="rect">
            <a:avLst/>
          </a:prstGeom>
          <a:noFill/>
          <a:ln/>
        </p:spPr>
        <p:txBody>
          <a:bodyPr wrap="square" lIns="0" tIns="0" rIns="0" bIns="0" rtlCol="0" anchor="ctr"/>
          <a:lstStyle/>
          <a:p>
            <a:pPr algn="r" indent="0" marL="0">
              <a:buNone/>
            </a:pPr>
            <a:r>
              <a:rPr lang="en-US" sz="1000" dirty="0">
                <a:solidFill>
                  <a:srgbClr val="64748B"/>
                </a:solidFill>
              </a:rPr>
              <a:t>5</a:t>
            </a:r>
            <a:endParaRPr lang="en-US" sz="1000" dirty="0"/>
          </a:p>
        </p:txBody>
      </p:sp>
      <p:sp>
        <p:nvSpPr>
          <p:cNvPr id="3" name="Text 1"/>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What the literature says</a:t>
            </a:r>
            <a:endParaRPr lang="en-US" sz="3200" dirty="0"/>
          </a:p>
        </p:txBody>
      </p:sp>
      <p:sp>
        <p:nvSpPr>
          <p:cNvPr id="4" name="Text 2"/>
          <p:cNvSpPr txBox="1"/>
          <p:nvPr/>
        </p:nvSpPr>
        <p:spPr>
          <a:xfrm>
            <a:off x="548640" y="1005840"/>
            <a:ext cx="11064240" cy="411480"/>
          </a:xfrm>
          <a:prstGeom prst="rect">
            <a:avLst/>
          </a:prstGeom>
          <a:noFill/>
          <a:ln/>
        </p:spPr>
        <p:txBody>
          <a:bodyPr wrap="square" lIns="0" tIns="0" rIns="0" bIns="0" rtlCol="0" anchor="ctr"/>
          <a:lstStyle/>
          <a:p>
            <a:pPr indent="0" marL="0">
              <a:buNone/>
            </a:pPr>
            <a:r>
              <a:rPr lang="en-US" sz="1600" i="1" dirty="0">
                <a:solidFill>
                  <a:srgbClr val="64748B"/>
                </a:solidFill>
                <a:latin typeface="Calibri" pitchFamily="34" charset="0"/>
                <a:ea typeface="Calibri" pitchFamily="34" charset="-122"/>
                <a:cs typeface="Calibri" pitchFamily="34" charset="-120"/>
              </a:rPr>
              <a:t>Each technique alone has a blind spot</a:t>
            </a:r>
            <a:endParaRPr lang="en-US" sz="1600" dirty="0"/>
          </a:p>
        </p:txBody>
      </p:sp>
      <p:sp>
        <p:nvSpPr>
          <p:cNvPr id="5" name="Shape 3"/>
          <p:cNvSpPr/>
          <p:nvPr/>
        </p:nvSpPr>
        <p:spPr>
          <a:xfrm>
            <a:off x="548640" y="1645920"/>
            <a:ext cx="502920" cy="502920"/>
          </a:xfrm>
          <a:prstGeom prst="ellipse">
            <a:avLst/>
          </a:prstGeom>
          <a:solidFill>
            <a:srgbClr val="64748B"/>
          </a:solidFill>
          <a:ln/>
        </p:spPr>
      </p:sp>
      <p:sp>
        <p:nvSpPr>
          <p:cNvPr id="6" name="Text 4"/>
          <p:cNvSpPr txBox="1"/>
          <p:nvPr/>
        </p:nvSpPr>
        <p:spPr>
          <a:xfrm>
            <a:off x="548640" y="16459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7" name="Text 5"/>
          <p:cNvSpPr txBox="1"/>
          <p:nvPr/>
        </p:nvSpPr>
        <p:spPr>
          <a:xfrm>
            <a:off x="1234440" y="1554480"/>
            <a:ext cx="4937760" cy="868680"/>
          </a:xfrm>
          <a:prstGeom prst="rect">
            <a:avLst/>
          </a:prstGeom>
          <a:noFill/>
          <a:ln/>
        </p:spPr>
        <p:txBody>
          <a:bodyPr wrap="square" lIns="0" tIns="0" rIns="0" bIns="0" rtlCol="0" anchor="ctr"/>
          <a:lstStyle/>
          <a:p>
            <a:pPr indent="0" marL="0">
              <a:buNone/>
            </a:pPr>
            <a:r>
              <a:rPr lang="en-US" sz="1800" b="1" dirty="0">
                <a:solidFill>
                  <a:srgbClr val="0F172A"/>
                </a:solidFill>
              </a:rPr>
              <a:t>Blocklists</a:t>
            </a:r>
            <a:endParaRPr lang="en-US" sz="1800" dirty="0"/>
          </a:p>
          <a:p>
            <a:pPr indent="0" marL="0">
              <a:buNone/>
            </a:pPr>
            <a:r>
              <a:rPr lang="en-US" sz="1500" dirty="0">
                <a:solidFill>
                  <a:srgbClr val="64748B"/>
                </a:solidFill>
              </a:rPr>
              <a:t>Precise but late; useless without a link</a:t>
            </a:r>
            <a:endParaRPr lang="en-US" sz="1800" dirty="0"/>
          </a:p>
        </p:txBody>
      </p:sp>
      <p:sp>
        <p:nvSpPr>
          <p:cNvPr id="8" name="Shape 6"/>
          <p:cNvSpPr/>
          <p:nvPr/>
        </p:nvSpPr>
        <p:spPr>
          <a:xfrm>
            <a:off x="548640" y="2697480"/>
            <a:ext cx="502920" cy="502920"/>
          </a:xfrm>
          <a:prstGeom prst="ellipse">
            <a:avLst/>
          </a:prstGeom>
          <a:solidFill>
            <a:srgbClr val="F59E0B"/>
          </a:solidFill>
          <a:ln/>
        </p:spPr>
      </p:sp>
      <p:sp>
        <p:nvSpPr>
          <p:cNvPr id="9" name="Text 7"/>
          <p:cNvSpPr txBox="1"/>
          <p:nvPr/>
        </p:nvSpPr>
        <p:spPr>
          <a:xfrm>
            <a:off x="548640" y="26974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0" name="Text 8"/>
          <p:cNvSpPr txBox="1"/>
          <p:nvPr/>
        </p:nvSpPr>
        <p:spPr>
          <a:xfrm>
            <a:off x="1234440" y="2606040"/>
            <a:ext cx="4937760" cy="868680"/>
          </a:xfrm>
          <a:prstGeom prst="rect">
            <a:avLst/>
          </a:prstGeom>
          <a:noFill/>
          <a:ln/>
        </p:spPr>
        <p:txBody>
          <a:bodyPr wrap="square" lIns="0" tIns="0" rIns="0" bIns="0" rtlCol="0" anchor="ctr"/>
          <a:lstStyle/>
          <a:p>
            <a:pPr indent="0" marL="0">
              <a:buNone/>
            </a:pPr>
            <a:r>
              <a:rPr lang="en-US" sz="1800" b="1" dirty="0">
                <a:solidFill>
                  <a:srgbClr val="0F172A"/>
                </a:solidFill>
              </a:rPr>
              <a:t>Rules</a:t>
            </a:r>
            <a:endParaRPr lang="en-US" sz="1800" dirty="0"/>
          </a:p>
          <a:p>
            <a:pPr indent="0" marL="0">
              <a:buNone/>
            </a:pPr>
            <a:r>
              <a:rPr lang="en-US" sz="1500" dirty="0">
                <a:solidFill>
                  <a:srgbClr val="64748B"/>
                </a:solidFill>
              </a:rPr>
              <a:t>Explainable; recall only 6 % in our tests</a:t>
            </a:r>
            <a:endParaRPr lang="en-US" sz="1800" dirty="0"/>
          </a:p>
        </p:txBody>
      </p:sp>
      <p:sp>
        <p:nvSpPr>
          <p:cNvPr id="11" name="Shape 9"/>
          <p:cNvSpPr/>
          <p:nvPr/>
        </p:nvSpPr>
        <p:spPr>
          <a:xfrm>
            <a:off x="548640" y="3749040"/>
            <a:ext cx="502920" cy="502920"/>
          </a:xfrm>
          <a:prstGeom prst="ellipse">
            <a:avLst/>
          </a:prstGeom>
          <a:solidFill>
            <a:srgbClr val="06B6D4"/>
          </a:solidFill>
          <a:ln/>
        </p:spPr>
      </p:sp>
      <p:sp>
        <p:nvSpPr>
          <p:cNvPr id="12" name="Text 10"/>
          <p:cNvSpPr txBox="1"/>
          <p:nvPr/>
        </p:nvSpPr>
        <p:spPr>
          <a:xfrm>
            <a:off x="548640" y="37490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3" name="Text 11"/>
          <p:cNvSpPr txBox="1"/>
          <p:nvPr/>
        </p:nvSpPr>
        <p:spPr>
          <a:xfrm>
            <a:off x="1234440" y="3657600"/>
            <a:ext cx="4937760" cy="868680"/>
          </a:xfrm>
          <a:prstGeom prst="rect">
            <a:avLst/>
          </a:prstGeom>
          <a:noFill/>
          <a:ln/>
        </p:spPr>
        <p:txBody>
          <a:bodyPr wrap="square" lIns="0" tIns="0" rIns="0" bIns="0" rtlCol="0" anchor="ctr"/>
          <a:lstStyle/>
          <a:p>
            <a:pPr indent="0" marL="0">
              <a:buNone/>
            </a:pPr>
            <a:r>
              <a:rPr lang="en-US" sz="1800" b="1" dirty="0">
                <a:solidFill>
                  <a:srgbClr val="0F172A"/>
                </a:solidFill>
              </a:rPr>
              <a:t>Machine learning</a:t>
            </a:r>
            <a:endParaRPr lang="en-US" sz="1800" dirty="0"/>
          </a:p>
          <a:p>
            <a:pPr indent="0" marL="0">
              <a:buNone/>
            </a:pPr>
            <a:r>
              <a:rPr lang="en-US" sz="1500" dirty="0">
                <a:solidFill>
                  <a:srgbClr val="64748B"/>
                </a:solidFill>
              </a:rPr>
              <a:t>Fast, high recall; over-reacts (32 % false alarms)</a:t>
            </a:r>
            <a:endParaRPr lang="en-US" sz="1800" dirty="0"/>
          </a:p>
        </p:txBody>
      </p:sp>
      <p:sp>
        <p:nvSpPr>
          <p:cNvPr id="14" name="Shape 12"/>
          <p:cNvSpPr/>
          <p:nvPr/>
        </p:nvSpPr>
        <p:spPr>
          <a:xfrm>
            <a:off x="548640" y="4800600"/>
            <a:ext cx="502920" cy="502920"/>
          </a:xfrm>
          <a:prstGeom prst="ellipse">
            <a:avLst/>
          </a:prstGeom>
          <a:solidFill>
            <a:srgbClr val="0B1F3A"/>
          </a:solidFill>
          <a:ln/>
        </p:spPr>
      </p:sp>
      <p:sp>
        <p:nvSpPr>
          <p:cNvPr id="15" name="Text 13"/>
          <p:cNvSpPr txBox="1"/>
          <p:nvPr/>
        </p:nvSpPr>
        <p:spPr>
          <a:xfrm>
            <a:off x="548640" y="4800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6" name="Text 14"/>
          <p:cNvSpPr txBox="1"/>
          <p:nvPr/>
        </p:nvSpPr>
        <p:spPr>
          <a:xfrm>
            <a:off x="1234440" y="4709160"/>
            <a:ext cx="4937760" cy="868680"/>
          </a:xfrm>
          <a:prstGeom prst="rect">
            <a:avLst/>
          </a:prstGeom>
          <a:noFill/>
          <a:ln/>
        </p:spPr>
        <p:txBody>
          <a:bodyPr wrap="square" lIns="0" tIns="0" rIns="0" bIns="0" rtlCol="0" anchor="ctr"/>
          <a:lstStyle/>
          <a:p>
            <a:pPr indent="0" marL="0">
              <a:buNone/>
            </a:pPr>
            <a:r>
              <a:rPr lang="en-US" sz="1800" b="1" dirty="0">
                <a:solidFill>
                  <a:srgbClr val="0F172A"/>
                </a:solidFill>
              </a:rPr>
              <a:t>LLM (Claude)</a:t>
            </a:r>
            <a:endParaRPr lang="en-US" sz="1800" dirty="0"/>
          </a:p>
          <a:p>
            <a:pPr indent="0" marL="0">
              <a:buNone/>
            </a:pPr>
            <a:r>
              <a:rPr lang="en-US" sz="1500" dirty="0">
                <a:solidFill>
                  <a:srgbClr val="64748B"/>
                </a:solidFill>
              </a:rPr>
              <a:t>Understands intent; slow, external, costly</a:t>
            </a:r>
            <a:endParaRPr lang="en-US" sz="1800" dirty="0"/>
          </a:p>
        </p:txBody>
      </p:sp>
      <p:pic>
        <p:nvPicPr>
          <p:cNvPr id="17" name="Image 0" descr="C:\Users\HP\AppData\Local\Temp\claude\j--PhishGuard\ca0c545f-7cb4-4742-8c08-f5a0631ede70\scratchpad\report\img\d-gap.png">    </p:cNvPr>
          <p:cNvPicPr>
            <a:picLocks noChangeAspect="1"/>
          </p:cNvPicPr>
          <p:nvPr/>
        </p:nvPicPr>
        <p:blipFill>
          <a:blip r:embed="rId1"/>
          <a:stretch>
            <a:fillRect/>
          </a:stretch>
        </p:blipFill>
        <p:spPr>
          <a:xfrm>
            <a:off x="6400800" y="2451792"/>
            <a:ext cx="5303520" cy="277737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00800"/>
            <a:ext cx="548640" cy="274320"/>
          </a:xfrm>
          <a:prstGeom prst="rect">
            <a:avLst/>
          </a:prstGeom>
          <a:noFill/>
          <a:ln/>
        </p:spPr>
        <p:txBody>
          <a:bodyPr wrap="square" lIns="0" tIns="0" rIns="0" bIns="0" rtlCol="0" anchor="ctr"/>
          <a:lstStyle/>
          <a:p>
            <a:pPr algn="r" indent="0" marL="0">
              <a:buNone/>
            </a:pPr>
            <a:r>
              <a:rPr lang="en-US" sz="1000" dirty="0">
                <a:solidFill>
                  <a:srgbClr val="64748B"/>
                </a:solidFill>
              </a:rPr>
              <a:t>6</a:t>
            </a:r>
            <a:endParaRPr lang="en-US" sz="1000" dirty="0"/>
          </a:p>
        </p:txBody>
      </p:sp>
      <p:sp>
        <p:nvSpPr>
          <p:cNvPr id="3" name="Text 1"/>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Methodology: Design Science Research</a:t>
            </a:r>
            <a:endParaRPr lang="en-US" sz="3200" dirty="0"/>
          </a:p>
        </p:txBody>
      </p:sp>
      <p:sp>
        <p:nvSpPr>
          <p:cNvPr id="4" name="Text 2"/>
          <p:cNvSpPr txBox="1"/>
          <p:nvPr/>
        </p:nvSpPr>
        <p:spPr>
          <a:xfrm>
            <a:off x="548640" y="1005840"/>
            <a:ext cx="11064240" cy="411480"/>
          </a:xfrm>
          <a:prstGeom prst="rect">
            <a:avLst/>
          </a:prstGeom>
          <a:noFill/>
          <a:ln/>
        </p:spPr>
        <p:txBody>
          <a:bodyPr wrap="square" lIns="0" tIns="0" rIns="0" bIns="0" rtlCol="0" anchor="ctr"/>
          <a:lstStyle/>
          <a:p>
            <a:pPr indent="0" marL="0">
              <a:buNone/>
            </a:pPr>
            <a:r>
              <a:rPr lang="en-US" sz="1600" i="1" dirty="0">
                <a:solidFill>
                  <a:srgbClr val="64748B"/>
                </a:solidFill>
                <a:latin typeface="Calibri" pitchFamily="34" charset="0"/>
                <a:ea typeface="Calibri" pitchFamily="34" charset="-122"/>
                <a:cs typeface="Calibri" pitchFamily="34" charset="-120"/>
              </a:rPr>
              <a:t>Peffers et al. (2007), four iterations</a:t>
            </a:r>
            <a:endParaRPr lang="en-US" sz="1600" dirty="0"/>
          </a:p>
        </p:txBody>
      </p:sp>
      <p:pic>
        <p:nvPicPr>
          <p:cNvPr id="5" name="Image 0" descr="C:\Users\HP\AppData\Local\Temp\claude\j--PhishGuard\ca0c545f-7cb4-4742-8c08-f5a0631ede70\scratchpad\report\img\d-dsr.png">    </p:cNvPr>
          <p:cNvPicPr>
            <a:picLocks noChangeAspect="1"/>
          </p:cNvPicPr>
          <p:nvPr/>
        </p:nvPicPr>
        <p:blipFill>
          <a:blip r:embed="rId1"/>
          <a:stretch>
            <a:fillRect/>
          </a:stretch>
        </p:blipFill>
        <p:spPr>
          <a:xfrm>
            <a:off x="602560" y="1463040"/>
            <a:ext cx="2452480" cy="5120640"/>
          </a:xfrm>
          <a:prstGeom prst="rect">
            <a:avLst/>
          </a:prstGeom>
        </p:spPr>
      </p:pic>
      <p:sp>
        <p:nvSpPr>
          <p:cNvPr id="6" name="Shape 3"/>
          <p:cNvSpPr/>
          <p:nvPr/>
        </p:nvSpPr>
        <p:spPr>
          <a:xfrm>
            <a:off x="3566160" y="1645920"/>
            <a:ext cx="3840480" cy="1234440"/>
          </a:xfrm>
          <a:prstGeom prst="roundRect">
            <a:avLst>
              <a:gd name="adj" fmla="val 7407"/>
            </a:avLst>
          </a:prstGeom>
          <a:solidFill>
            <a:srgbClr val="F1F5F9"/>
          </a:solidFill>
          <a:ln/>
        </p:spPr>
      </p:sp>
      <p:sp>
        <p:nvSpPr>
          <p:cNvPr id="7" name="Text 4"/>
          <p:cNvSpPr txBox="1"/>
          <p:nvPr/>
        </p:nvSpPr>
        <p:spPr>
          <a:xfrm>
            <a:off x="3749040" y="1645920"/>
            <a:ext cx="3566160" cy="1234440"/>
          </a:xfrm>
          <a:prstGeom prst="rect">
            <a:avLst/>
          </a:prstGeom>
          <a:noFill/>
          <a:ln/>
        </p:spPr>
        <p:txBody>
          <a:bodyPr wrap="square" lIns="0" tIns="0" rIns="0" bIns="0" rtlCol="0" anchor="ctr"/>
          <a:lstStyle/>
          <a:p>
            <a:pPr indent="0" marL="0">
              <a:buNone/>
            </a:pPr>
            <a:r>
              <a:rPr lang="en-US" sz="1700" b="1" dirty="0">
                <a:solidFill>
                  <a:srgbClr val="0B1F3A"/>
                </a:solidFill>
              </a:rPr>
              <a:t>1  Foundation</a:t>
            </a:r>
            <a:endParaRPr lang="en-US" sz="1700" dirty="0"/>
          </a:p>
          <a:p>
            <a:pPr indent="0" marL="0">
              <a:buNone/>
            </a:pPr>
            <a:r>
              <a:rPr lang="en-US" sz="1400" dirty="0">
                <a:solidFill>
                  <a:srgbClr val="64748B"/>
                </a:solidFill>
              </a:rPr>
              <a:t>API, database, authentication, first model</a:t>
            </a:r>
            <a:endParaRPr lang="en-US" sz="1700" dirty="0"/>
          </a:p>
        </p:txBody>
      </p:sp>
      <p:sp>
        <p:nvSpPr>
          <p:cNvPr id="8" name="Shape 5"/>
          <p:cNvSpPr/>
          <p:nvPr/>
        </p:nvSpPr>
        <p:spPr>
          <a:xfrm>
            <a:off x="7680960" y="1645920"/>
            <a:ext cx="3840480" cy="1234440"/>
          </a:xfrm>
          <a:prstGeom prst="roundRect">
            <a:avLst>
              <a:gd name="adj" fmla="val 7407"/>
            </a:avLst>
          </a:prstGeom>
          <a:solidFill>
            <a:srgbClr val="F1F5F9"/>
          </a:solidFill>
          <a:ln/>
        </p:spPr>
      </p:sp>
      <p:sp>
        <p:nvSpPr>
          <p:cNvPr id="9" name="Text 6"/>
          <p:cNvSpPr txBox="1"/>
          <p:nvPr/>
        </p:nvSpPr>
        <p:spPr>
          <a:xfrm>
            <a:off x="7863840" y="1645920"/>
            <a:ext cx="3566160" cy="1234440"/>
          </a:xfrm>
          <a:prstGeom prst="rect">
            <a:avLst/>
          </a:prstGeom>
          <a:noFill/>
          <a:ln/>
        </p:spPr>
        <p:txBody>
          <a:bodyPr wrap="square" lIns="0" tIns="0" rIns="0" bIns="0" rtlCol="0" anchor="ctr"/>
          <a:lstStyle/>
          <a:p>
            <a:pPr indent="0" marL="0">
              <a:buNone/>
            </a:pPr>
            <a:r>
              <a:rPr lang="en-US" sz="1700" b="1" dirty="0">
                <a:solidFill>
                  <a:srgbClr val="0B1F3A"/>
                </a:solidFill>
              </a:rPr>
              <a:t>2  Pipeline</a:t>
            </a:r>
            <a:endParaRPr lang="en-US" sz="1700" dirty="0"/>
          </a:p>
          <a:p>
            <a:pPr indent="0" marL="0">
              <a:buNone/>
            </a:pPr>
            <a:r>
              <a:rPr lang="en-US" sz="1400" dirty="0">
                <a:solidFill>
                  <a:srgbClr val="64748B"/>
                </a:solidFill>
              </a:rPr>
              <a:t>4 signals, fusion, e-mail parser, OCR</a:t>
            </a:r>
            <a:endParaRPr lang="en-US" sz="1700" dirty="0"/>
          </a:p>
        </p:txBody>
      </p:sp>
      <p:sp>
        <p:nvSpPr>
          <p:cNvPr id="10" name="Shape 7"/>
          <p:cNvSpPr/>
          <p:nvPr/>
        </p:nvSpPr>
        <p:spPr>
          <a:xfrm>
            <a:off x="3566160" y="3108960"/>
            <a:ext cx="3840480" cy="1234440"/>
          </a:xfrm>
          <a:prstGeom prst="roundRect">
            <a:avLst>
              <a:gd name="adj" fmla="val 7407"/>
            </a:avLst>
          </a:prstGeom>
          <a:solidFill>
            <a:srgbClr val="F1F5F9"/>
          </a:solidFill>
          <a:ln/>
        </p:spPr>
      </p:sp>
      <p:sp>
        <p:nvSpPr>
          <p:cNvPr id="11" name="Text 8"/>
          <p:cNvSpPr txBox="1"/>
          <p:nvPr/>
        </p:nvSpPr>
        <p:spPr>
          <a:xfrm>
            <a:off x="3749040" y="3108960"/>
            <a:ext cx="3566160" cy="1234440"/>
          </a:xfrm>
          <a:prstGeom prst="rect">
            <a:avLst/>
          </a:prstGeom>
          <a:noFill/>
          <a:ln/>
        </p:spPr>
        <p:txBody>
          <a:bodyPr wrap="square" lIns="0" tIns="0" rIns="0" bIns="0" rtlCol="0" anchor="ctr"/>
          <a:lstStyle/>
          <a:p>
            <a:pPr indent="0" marL="0">
              <a:buNone/>
            </a:pPr>
            <a:r>
              <a:rPr lang="en-US" sz="1700" b="1" dirty="0">
                <a:solidFill>
                  <a:srgbClr val="0B1F3A"/>
                </a:solidFill>
              </a:rPr>
              <a:t>3  Platform &amp; SOC</a:t>
            </a:r>
            <a:endParaRPr lang="en-US" sz="1700" dirty="0"/>
          </a:p>
          <a:p>
            <a:pPr indent="0" marL="0">
              <a:buNone/>
            </a:pPr>
            <a:r>
              <a:rPr lang="en-US" sz="1400" dirty="0">
                <a:solidFill>
                  <a:srgbClr val="64748B"/>
                </a:solidFill>
              </a:rPr>
              <a:t>Visitor gate, dashboard, mailboxes, SOC</a:t>
            </a:r>
            <a:endParaRPr lang="en-US" sz="1700" dirty="0"/>
          </a:p>
        </p:txBody>
      </p:sp>
      <p:sp>
        <p:nvSpPr>
          <p:cNvPr id="12" name="Shape 9"/>
          <p:cNvSpPr/>
          <p:nvPr/>
        </p:nvSpPr>
        <p:spPr>
          <a:xfrm>
            <a:off x="7680960" y="3108960"/>
            <a:ext cx="3840480" cy="1234440"/>
          </a:xfrm>
          <a:prstGeom prst="roundRect">
            <a:avLst>
              <a:gd name="adj" fmla="val 7407"/>
            </a:avLst>
          </a:prstGeom>
          <a:solidFill>
            <a:srgbClr val="F1F5F9"/>
          </a:solidFill>
          <a:ln/>
        </p:spPr>
      </p:sp>
      <p:sp>
        <p:nvSpPr>
          <p:cNvPr id="13" name="Text 10"/>
          <p:cNvSpPr txBox="1"/>
          <p:nvPr/>
        </p:nvSpPr>
        <p:spPr>
          <a:xfrm>
            <a:off x="7863840" y="3108960"/>
            <a:ext cx="3566160" cy="1234440"/>
          </a:xfrm>
          <a:prstGeom prst="rect">
            <a:avLst/>
          </a:prstGeom>
          <a:noFill/>
          <a:ln/>
        </p:spPr>
        <p:txBody>
          <a:bodyPr wrap="square" lIns="0" tIns="0" rIns="0" bIns="0" rtlCol="0" anchor="ctr"/>
          <a:lstStyle/>
          <a:p>
            <a:pPr indent="0" marL="0">
              <a:buNone/>
            </a:pPr>
            <a:r>
              <a:rPr lang="en-US" sz="1700" b="1" dirty="0">
                <a:solidFill>
                  <a:srgbClr val="0B1F3A"/>
                </a:solidFill>
              </a:rPr>
              <a:t>4  Intelligence</a:t>
            </a:r>
            <a:endParaRPr lang="en-US" sz="1700" dirty="0"/>
          </a:p>
          <a:p>
            <a:pPr indent="0" marL="0">
              <a:buNone/>
            </a:pPr>
            <a:r>
              <a:rPr lang="en-US" sz="1400" dirty="0">
                <a:solidFill>
                  <a:srgbClr val="64748B"/>
                </a:solidFill>
              </a:rPr>
              <a:t>Origin tracing, radar, new corpus, evaluation</a:t>
            </a:r>
            <a:endParaRPr lang="en-US" sz="1700" dirty="0"/>
          </a:p>
        </p:txBody>
      </p:sp>
      <p:sp>
        <p:nvSpPr>
          <p:cNvPr id="14" name="Text 11"/>
          <p:cNvSpPr txBox="1"/>
          <p:nvPr/>
        </p:nvSpPr>
        <p:spPr>
          <a:xfrm>
            <a:off x="3566160" y="4754880"/>
            <a:ext cx="7955280" cy="1280160"/>
          </a:xfrm>
          <a:prstGeom prst="rect">
            <a:avLst/>
          </a:prstGeom>
          <a:noFill/>
          <a:ln/>
        </p:spPr>
        <p:txBody>
          <a:bodyPr wrap="square" lIns="0" tIns="0" rIns="0" bIns="0" rtlCol="0" anchor="ctr"/>
          <a:lstStyle/>
          <a:p>
            <a:pPr indent="0" marL="0">
              <a:buNone/>
            </a:pPr>
            <a:r>
              <a:rPr lang="en-US" sz="1500" b="1" dirty="0">
                <a:solidFill>
                  <a:srgbClr val="0F172A"/>
                </a:solidFill>
              </a:rPr>
              <a:t>Corpus: 6 370 messages</a:t>
            </a:r>
            <a:endParaRPr lang="en-US" sz="1500" dirty="0"/>
          </a:p>
          <a:p>
            <a:pPr indent="0" marL="0">
              <a:buNone/>
            </a:pPr>
            <a:r>
              <a:rPr lang="en-US" sz="1500" dirty="0">
                <a:solidFill>
                  <a:srgbClr val="0F172A"/>
                </a:solidFill>
              </a:rPr>
              <a:t>586 Cameroonian train · 178 test (unseen templates) · 24 challenge · 5 574 UCI SMS · 8 admin labels. Grouped hold-out split: no near-duplicates between train and test.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00800"/>
            <a:ext cx="548640" cy="274320"/>
          </a:xfrm>
          <a:prstGeom prst="rect">
            <a:avLst/>
          </a:prstGeom>
          <a:noFill/>
          <a:ln/>
        </p:spPr>
        <p:txBody>
          <a:bodyPr wrap="square" lIns="0" tIns="0" rIns="0" bIns="0" rtlCol="0" anchor="ctr"/>
          <a:lstStyle/>
          <a:p>
            <a:pPr algn="r" indent="0" marL="0">
              <a:buNone/>
            </a:pPr>
            <a:r>
              <a:rPr lang="en-US" sz="1000" dirty="0">
                <a:solidFill>
                  <a:srgbClr val="64748B"/>
                </a:solidFill>
              </a:rPr>
              <a:t>7</a:t>
            </a:r>
            <a:endParaRPr lang="en-US" sz="1000" dirty="0"/>
          </a:p>
        </p:txBody>
      </p:sp>
      <p:sp>
        <p:nvSpPr>
          <p:cNvPr id="3" name="Text 1"/>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Architecture</a:t>
            </a:r>
            <a:endParaRPr lang="en-US" sz="3200" dirty="0"/>
          </a:p>
        </p:txBody>
      </p:sp>
      <p:pic>
        <p:nvPicPr>
          <p:cNvPr id="4" name="Image 0" descr="C:\Users\HP\AppData\Local\Temp\claude\j--PhishGuard\ca0c545f-7cb4-4742-8c08-f5a0631ede70\scratchpad\report\img\d-architecture.png">    </p:cNvPr>
          <p:cNvPicPr>
            <a:picLocks noChangeAspect="1"/>
          </p:cNvPicPr>
          <p:nvPr/>
        </p:nvPicPr>
        <p:blipFill>
          <a:blip r:embed="rId1"/>
          <a:stretch>
            <a:fillRect/>
          </a:stretch>
        </p:blipFill>
        <p:spPr>
          <a:xfrm>
            <a:off x="457200" y="1205688"/>
            <a:ext cx="5120640" cy="5452464"/>
          </a:xfrm>
          <a:prstGeom prst="rect">
            <a:avLst/>
          </a:prstGeom>
        </p:spPr>
      </p:pic>
      <p:sp>
        <p:nvSpPr>
          <p:cNvPr id="5" name="Text 2"/>
          <p:cNvSpPr txBox="1"/>
          <p:nvPr/>
        </p:nvSpPr>
        <p:spPr>
          <a:xfrm>
            <a:off x="5943600" y="1463040"/>
            <a:ext cx="5760720" cy="4572000"/>
          </a:xfrm>
          <a:prstGeom prst="rect">
            <a:avLst/>
          </a:prstGeom>
          <a:noFill/>
          <a:ln/>
        </p:spPr>
        <p:txBody>
          <a:bodyPr wrap="square" rtlCol="0" anchor="t"/>
          <a:lstStyle/>
          <a:p>
            <a:pPr marL="342900" indent="-342900">
              <a:spcAft>
                <a:spcPts val="800"/>
              </a:spcAft>
              <a:buSzPct val="100000"/>
              <a:buChar char="•"/>
            </a:pPr>
            <a:r>
              <a:rPr lang="en-US" sz="1700" dirty="0">
                <a:solidFill>
                  <a:srgbClr val="0F172A"/>
                </a:solidFill>
                <a:latin typeface="Calibri" pitchFamily="34" charset="0"/>
                <a:ea typeface="Calibri" pitchFamily="34" charset="-122"/>
                <a:cs typeface="Calibri" pitchFamily="34" charset="-120"/>
              </a:rPr>
              <a:t>Vue 3 + TypeScript single-page app, installable PWA</a:t>
            </a:r>
            <a:endParaRPr lang="en-US" sz="1700" dirty="0"/>
          </a:p>
          <a:p>
            <a:pPr marL="342900" indent="-342900">
              <a:spcAft>
                <a:spcPts val="800"/>
              </a:spcAft>
              <a:buSzPct val="100000"/>
              <a:buChar char="•"/>
            </a:pPr>
            <a:r>
              <a:rPr lang="en-US" sz="1700" dirty="0">
                <a:solidFill>
                  <a:srgbClr val="0F172A"/>
                </a:solidFill>
                <a:latin typeface="Calibri" pitchFamily="34" charset="0"/>
                <a:ea typeface="Calibri" pitchFamily="34" charset="-122"/>
                <a:cs typeface="Calibri" pitchFamily="34" charset="-120"/>
              </a:rPr>
              <a:t>Flask REST API in blueprints; uniform JSON envelope</a:t>
            </a:r>
            <a:endParaRPr lang="en-US" sz="1700" dirty="0"/>
          </a:p>
          <a:p>
            <a:pPr marL="342900" indent="-342900">
              <a:spcAft>
                <a:spcPts val="800"/>
              </a:spcAft>
              <a:buSzPct val="100000"/>
              <a:buChar char="•"/>
            </a:pPr>
            <a:r>
              <a:rPr lang="en-US" sz="1700" dirty="0">
                <a:solidFill>
                  <a:srgbClr val="0F172A"/>
                </a:solidFill>
                <a:latin typeface="Calibri" pitchFamily="34" charset="0"/>
                <a:ea typeface="Calibri" pitchFamily="34" charset="-122"/>
                <a:cs typeface="Calibri" pitchFamily="34" charset="-120"/>
              </a:rPr>
              <a:t>Services with one job each: scan, mailbox, triage, correlation, audit, origin</a:t>
            </a:r>
            <a:endParaRPr lang="en-US" sz="1700" dirty="0"/>
          </a:p>
          <a:p>
            <a:pPr marL="342900" indent="-342900">
              <a:spcAft>
                <a:spcPts val="800"/>
              </a:spcAft>
              <a:buSzPct val="100000"/>
              <a:buChar char="•"/>
            </a:pPr>
            <a:r>
              <a:rPr lang="en-US" sz="1700" dirty="0">
                <a:solidFill>
                  <a:srgbClr val="0F172A"/>
                </a:solidFill>
                <a:latin typeface="Calibri" pitchFamily="34" charset="0"/>
                <a:ea typeface="Calibri" pitchFamily="34" charset="-122"/>
                <a:cs typeface="Calibri" pitchFamily="34" charset="-120"/>
              </a:rPr>
              <a:t>PostgreSQL 18 + model files</a:t>
            </a:r>
            <a:endParaRPr lang="en-US" sz="1700" dirty="0"/>
          </a:p>
          <a:p>
            <a:pPr marL="342900" indent="-342900">
              <a:spcAft>
                <a:spcPts val="800"/>
              </a:spcAft>
              <a:buSzPct val="100000"/>
              <a:buChar char="•"/>
            </a:pPr>
            <a:r>
              <a:rPr lang="en-US" sz="1700" dirty="0">
                <a:solidFill>
                  <a:srgbClr val="0F172A"/>
                </a:solidFill>
                <a:latin typeface="Calibri" pitchFamily="34" charset="0"/>
                <a:ea typeface="Calibri" pitchFamily="34" charset="-122"/>
                <a:cs typeface="Calibri" pitchFamily="34" charset="-120"/>
              </a:rPr>
              <a:t>External: Claude, Gmail / Outlook, ip-api, DNSBL, OpenPhish</a:t>
            </a:r>
            <a:endParaRPr lang="en-US" sz="1700" dirty="0"/>
          </a:p>
          <a:p>
            <a:pPr marL="342900" indent="-342900">
              <a:spcAft>
                <a:spcPts val="800"/>
              </a:spcAft>
              <a:buSzPct val="100000"/>
              <a:buChar char="•"/>
            </a:pPr>
            <a:r>
              <a:rPr lang="en-US" sz="1700" dirty="0">
                <a:solidFill>
                  <a:srgbClr val="0F172A"/>
                </a:solidFill>
                <a:latin typeface="Calibri" pitchFamily="34" charset="0"/>
                <a:ea typeface="Calibri" pitchFamily="34" charset="-122"/>
                <a:cs typeface="Calibri" pitchFamily="34" charset="-120"/>
              </a:rPr>
              <a:t>Background scheduler: sync, correlation, feeds, health</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00800"/>
            <a:ext cx="548640" cy="274320"/>
          </a:xfrm>
          <a:prstGeom prst="rect">
            <a:avLst/>
          </a:prstGeom>
          <a:noFill/>
          <a:ln/>
        </p:spPr>
        <p:txBody>
          <a:bodyPr wrap="square" lIns="0" tIns="0" rIns="0" bIns="0" rtlCol="0" anchor="ctr"/>
          <a:lstStyle/>
          <a:p>
            <a:pPr algn="r" indent="0" marL="0">
              <a:buNone/>
            </a:pPr>
            <a:r>
              <a:rPr lang="en-US" sz="1000" dirty="0">
                <a:solidFill>
                  <a:srgbClr val="64748B"/>
                </a:solidFill>
              </a:rPr>
              <a:t>8</a:t>
            </a:r>
            <a:endParaRPr lang="en-US" sz="1000" dirty="0"/>
          </a:p>
        </p:txBody>
      </p:sp>
      <p:sp>
        <p:nvSpPr>
          <p:cNvPr id="3" name="Text 1"/>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The heart: a four-signal detection pipeline</a:t>
            </a:r>
            <a:endParaRPr lang="en-US" sz="3200" dirty="0"/>
          </a:p>
        </p:txBody>
      </p:sp>
      <p:pic>
        <p:nvPicPr>
          <p:cNvPr id="4" name="Image 0" descr="C:\Users\HP\AppData\Local\Temp\claude\j--PhishGuard\ca0c545f-7cb4-4742-8c08-f5a0631ede70\scratchpad\report\img\d-pipeline.png">    </p:cNvPr>
          <p:cNvPicPr>
            <a:picLocks noChangeAspect="1"/>
          </p:cNvPicPr>
          <p:nvPr/>
        </p:nvPicPr>
        <p:blipFill>
          <a:blip r:embed="rId1"/>
          <a:stretch>
            <a:fillRect/>
          </a:stretch>
        </p:blipFill>
        <p:spPr>
          <a:xfrm>
            <a:off x="365760" y="1197818"/>
            <a:ext cx="4572000" cy="5468205"/>
          </a:xfrm>
          <a:prstGeom prst="rect">
            <a:avLst/>
          </a:prstGeom>
        </p:spPr>
      </p:pic>
      <p:sp>
        <p:nvSpPr>
          <p:cNvPr id="5" name="Shape 2"/>
          <p:cNvSpPr/>
          <p:nvPr/>
        </p:nvSpPr>
        <p:spPr>
          <a:xfrm>
            <a:off x="5303520" y="1371600"/>
            <a:ext cx="6400800" cy="822960"/>
          </a:xfrm>
          <a:prstGeom prst="roundRect">
            <a:avLst>
              <a:gd name="adj" fmla="val 11111"/>
            </a:avLst>
          </a:prstGeom>
          <a:solidFill>
            <a:srgbClr val="F1F5F9"/>
          </a:solidFill>
          <a:ln/>
        </p:spPr>
      </p:sp>
      <p:sp>
        <p:nvSpPr>
          <p:cNvPr id="6" name="Text 3"/>
          <p:cNvSpPr txBox="1"/>
          <p:nvPr/>
        </p:nvSpPr>
        <p:spPr>
          <a:xfrm>
            <a:off x="5394960" y="1371600"/>
            <a:ext cx="1005840" cy="822960"/>
          </a:xfrm>
          <a:prstGeom prst="rect">
            <a:avLst/>
          </a:prstGeom>
          <a:noFill/>
          <a:ln/>
        </p:spPr>
        <p:txBody>
          <a:bodyPr wrap="square" lIns="0" tIns="0" rIns="0" bIns="0" rtlCol="0" anchor="ctr"/>
          <a:lstStyle/>
          <a:p>
            <a:pPr algn="ctr" indent="0" marL="0">
              <a:buNone/>
            </a:pPr>
            <a:r>
              <a:rPr lang="en-US" sz="2200" b="1" dirty="0">
                <a:solidFill>
                  <a:srgbClr val="06B6D4"/>
                </a:solidFill>
              </a:rPr>
              <a:t>30 %</a:t>
            </a:r>
            <a:endParaRPr lang="en-US" sz="2200" dirty="0"/>
          </a:p>
        </p:txBody>
      </p:sp>
      <p:sp>
        <p:nvSpPr>
          <p:cNvPr id="7" name="Text 4"/>
          <p:cNvSpPr txBox="1"/>
          <p:nvPr/>
        </p:nvSpPr>
        <p:spPr>
          <a:xfrm>
            <a:off x="6492240" y="1371600"/>
            <a:ext cx="5120640" cy="822960"/>
          </a:xfrm>
          <a:prstGeom prst="rect">
            <a:avLst/>
          </a:prstGeom>
          <a:noFill/>
          <a:ln/>
        </p:spPr>
        <p:txBody>
          <a:bodyPr wrap="square" lIns="0" tIns="0" rIns="0" bIns="0" rtlCol="0" anchor="ctr"/>
          <a:lstStyle/>
          <a:p>
            <a:pPr indent="0" marL="0">
              <a:buNone/>
            </a:pPr>
            <a:r>
              <a:rPr lang="en-US" sz="1600" b="1" dirty="0">
                <a:solidFill>
                  <a:srgbClr val="0F172A"/>
                </a:solidFill>
              </a:rPr>
              <a:t>Text model</a:t>
            </a:r>
            <a:endParaRPr lang="en-US" sz="1600" dirty="0"/>
          </a:p>
          <a:p>
            <a:pPr indent="0" marL="0">
              <a:buNone/>
            </a:pPr>
            <a:r>
              <a:rPr lang="en-US" sz="1300" dirty="0">
                <a:solidFill>
                  <a:srgbClr val="64748B"/>
                </a:solidFill>
              </a:rPr>
              <a:t>TF-IDF words + characters, logistic regression</a:t>
            </a:r>
            <a:endParaRPr lang="en-US" sz="1600" dirty="0"/>
          </a:p>
        </p:txBody>
      </p:sp>
      <p:sp>
        <p:nvSpPr>
          <p:cNvPr id="8" name="Shape 5"/>
          <p:cNvSpPr/>
          <p:nvPr/>
        </p:nvSpPr>
        <p:spPr>
          <a:xfrm>
            <a:off x="5303520" y="2331720"/>
            <a:ext cx="6400800" cy="822960"/>
          </a:xfrm>
          <a:prstGeom prst="roundRect">
            <a:avLst>
              <a:gd name="adj" fmla="val 11111"/>
            </a:avLst>
          </a:prstGeom>
          <a:solidFill>
            <a:srgbClr val="F1F5F9"/>
          </a:solidFill>
          <a:ln/>
        </p:spPr>
      </p:sp>
      <p:sp>
        <p:nvSpPr>
          <p:cNvPr id="9" name="Text 6"/>
          <p:cNvSpPr txBox="1"/>
          <p:nvPr/>
        </p:nvSpPr>
        <p:spPr>
          <a:xfrm>
            <a:off x="5394960" y="2331720"/>
            <a:ext cx="1005840" cy="822960"/>
          </a:xfrm>
          <a:prstGeom prst="rect">
            <a:avLst/>
          </a:prstGeom>
          <a:noFill/>
          <a:ln/>
        </p:spPr>
        <p:txBody>
          <a:bodyPr wrap="square" lIns="0" tIns="0" rIns="0" bIns="0" rtlCol="0" anchor="ctr"/>
          <a:lstStyle/>
          <a:p>
            <a:pPr algn="ctr" indent="0" marL="0">
              <a:buNone/>
            </a:pPr>
            <a:r>
              <a:rPr lang="en-US" sz="2200" b="1" dirty="0">
                <a:solidFill>
                  <a:srgbClr val="0B1F3A"/>
                </a:solidFill>
              </a:rPr>
              <a:t>25 %</a:t>
            </a:r>
            <a:endParaRPr lang="en-US" sz="2200" dirty="0"/>
          </a:p>
        </p:txBody>
      </p:sp>
      <p:sp>
        <p:nvSpPr>
          <p:cNvPr id="10" name="Text 7"/>
          <p:cNvSpPr txBox="1"/>
          <p:nvPr/>
        </p:nvSpPr>
        <p:spPr>
          <a:xfrm>
            <a:off x="6492240" y="2331720"/>
            <a:ext cx="5120640" cy="822960"/>
          </a:xfrm>
          <a:prstGeom prst="rect">
            <a:avLst/>
          </a:prstGeom>
          <a:noFill/>
          <a:ln/>
        </p:spPr>
        <p:txBody>
          <a:bodyPr wrap="square" lIns="0" tIns="0" rIns="0" bIns="0" rtlCol="0" anchor="ctr"/>
          <a:lstStyle/>
          <a:p>
            <a:pPr indent="0" marL="0">
              <a:buNone/>
            </a:pPr>
            <a:r>
              <a:rPr lang="en-US" sz="1600" b="1" dirty="0">
                <a:solidFill>
                  <a:srgbClr val="0F172A"/>
                </a:solidFill>
              </a:rPr>
              <a:t>Claude AI</a:t>
            </a:r>
            <a:endParaRPr lang="en-US" sz="1600" dirty="0"/>
          </a:p>
          <a:p>
            <a:pPr indent="0" marL="0">
              <a:buNone/>
            </a:pPr>
            <a:r>
              <a:rPr lang="en-US" sz="1300" dirty="0">
                <a:solidFill>
                  <a:srgbClr val="64748B"/>
                </a:solidFill>
              </a:rPr>
              <a:t>Structured judgement on a redacted copy</a:t>
            </a:r>
            <a:endParaRPr lang="en-US" sz="1600" dirty="0"/>
          </a:p>
        </p:txBody>
      </p:sp>
      <p:sp>
        <p:nvSpPr>
          <p:cNvPr id="11" name="Shape 8"/>
          <p:cNvSpPr/>
          <p:nvPr/>
        </p:nvSpPr>
        <p:spPr>
          <a:xfrm>
            <a:off x="5303520" y="3291840"/>
            <a:ext cx="6400800" cy="822960"/>
          </a:xfrm>
          <a:prstGeom prst="roundRect">
            <a:avLst>
              <a:gd name="adj" fmla="val 11111"/>
            </a:avLst>
          </a:prstGeom>
          <a:solidFill>
            <a:srgbClr val="F1F5F9"/>
          </a:solidFill>
          <a:ln/>
        </p:spPr>
      </p:sp>
      <p:sp>
        <p:nvSpPr>
          <p:cNvPr id="12" name="Text 9"/>
          <p:cNvSpPr txBox="1"/>
          <p:nvPr/>
        </p:nvSpPr>
        <p:spPr>
          <a:xfrm>
            <a:off x="5394960" y="3291840"/>
            <a:ext cx="1005840" cy="822960"/>
          </a:xfrm>
          <a:prstGeom prst="rect">
            <a:avLst/>
          </a:prstGeom>
          <a:noFill/>
          <a:ln/>
        </p:spPr>
        <p:txBody>
          <a:bodyPr wrap="square" lIns="0" tIns="0" rIns="0" bIns="0" rtlCol="0" anchor="ctr"/>
          <a:lstStyle/>
          <a:p>
            <a:pPr algn="ctr" indent="0" marL="0">
              <a:buNone/>
            </a:pPr>
            <a:r>
              <a:rPr lang="en-US" sz="2200" b="1" dirty="0">
                <a:solidFill>
                  <a:srgbClr val="F59E0B"/>
                </a:solidFill>
              </a:rPr>
              <a:t>25 %</a:t>
            </a:r>
            <a:endParaRPr lang="en-US" sz="2200" dirty="0"/>
          </a:p>
        </p:txBody>
      </p:sp>
      <p:sp>
        <p:nvSpPr>
          <p:cNvPr id="13" name="Text 10"/>
          <p:cNvSpPr txBox="1"/>
          <p:nvPr/>
        </p:nvSpPr>
        <p:spPr>
          <a:xfrm>
            <a:off x="6492240" y="3291840"/>
            <a:ext cx="5120640" cy="822960"/>
          </a:xfrm>
          <a:prstGeom prst="rect">
            <a:avLst/>
          </a:prstGeom>
          <a:noFill/>
          <a:ln/>
        </p:spPr>
        <p:txBody>
          <a:bodyPr wrap="square" lIns="0" tIns="0" rIns="0" bIns="0" rtlCol="0" anchor="ctr"/>
          <a:lstStyle/>
          <a:p>
            <a:pPr indent="0" marL="0">
              <a:buNone/>
            </a:pPr>
            <a:r>
              <a:rPr lang="en-US" sz="1600" b="1" dirty="0">
                <a:solidFill>
                  <a:srgbClr val="0F172A"/>
                </a:solidFill>
              </a:rPr>
              <a:t>URL intelligence</a:t>
            </a:r>
            <a:endParaRPr lang="en-US" sz="1600" dirty="0"/>
          </a:p>
          <a:p>
            <a:pPr indent="0" marL="0">
              <a:buNone/>
            </a:pPr>
            <a:r>
              <a:rPr lang="en-US" sz="1300" dirty="0">
                <a:solidFill>
                  <a:srgbClr val="64748B"/>
                </a:solidFill>
              </a:rPr>
              <a:t>Look-alikes, TLD, shorteners, blocklist, XGBoost</a:t>
            </a:r>
            <a:endParaRPr lang="en-US" sz="1600" dirty="0"/>
          </a:p>
        </p:txBody>
      </p:sp>
      <p:sp>
        <p:nvSpPr>
          <p:cNvPr id="14" name="Shape 11"/>
          <p:cNvSpPr/>
          <p:nvPr/>
        </p:nvSpPr>
        <p:spPr>
          <a:xfrm>
            <a:off x="5303520" y="4251960"/>
            <a:ext cx="6400800" cy="822960"/>
          </a:xfrm>
          <a:prstGeom prst="roundRect">
            <a:avLst>
              <a:gd name="adj" fmla="val 11111"/>
            </a:avLst>
          </a:prstGeom>
          <a:solidFill>
            <a:srgbClr val="F1F5F9"/>
          </a:solidFill>
          <a:ln/>
        </p:spPr>
      </p:sp>
      <p:sp>
        <p:nvSpPr>
          <p:cNvPr id="15" name="Text 12"/>
          <p:cNvSpPr txBox="1"/>
          <p:nvPr/>
        </p:nvSpPr>
        <p:spPr>
          <a:xfrm>
            <a:off x="5394960" y="4251960"/>
            <a:ext cx="1005840" cy="822960"/>
          </a:xfrm>
          <a:prstGeom prst="rect">
            <a:avLst/>
          </a:prstGeom>
          <a:noFill/>
          <a:ln/>
        </p:spPr>
        <p:txBody>
          <a:bodyPr wrap="square" lIns="0" tIns="0" rIns="0" bIns="0" rtlCol="0" anchor="ctr"/>
          <a:lstStyle/>
          <a:p>
            <a:pPr algn="ctr" indent="0" marL="0">
              <a:buNone/>
            </a:pPr>
            <a:r>
              <a:rPr lang="en-US" sz="2200" b="1" dirty="0">
                <a:solidFill>
                  <a:srgbClr val="10B981"/>
                </a:solidFill>
              </a:rPr>
              <a:t>20 %</a:t>
            </a:r>
            <a:endParaRPr lang="en-US" sz="2200" dirty="0"/>
          </a:p>
        </p:txBody>
      </p:sp>
      <p:sp>
        <p:nvSpPr>
          <p:cNvPr id="16" name="Text 13"/>
          <p:cNvSpPr txBox="1"/>
          <p:nvPr/>
        </p:nvSpPr>
        <p:spPr>
          <a:xfrm>
            <a:off x="6492240" y="4251960"/>
            <a:ext cx="5120640" cy="822960"/>
          </a:xfrm>
          <a:prstGeom prst="rect">
            <a:avLst/>
          </a:prstGeom>
          <a:noFill/>
          <a:ln/>
        </p:spPr>
        <p:txBody>
          <a:bodyPr wrap="square" lIns="0" tIns="0" rIns="0" bIns="0" rtlCol="0" anchor="ctr"/>
          <a:lstStyle/>
          <a:p>
            <a:pPr indent="0" marL="0">
              <a:buNone/>
            </a:pPr>
            <a:r>
              <a:rPr lang="en-US" sz="1600" b="1" dirty="0">
                <a:solidFill>
                  <a:srgbClr val="0F172A"/>
                </a:solidFill>
              </a:rPr>
              <a:t>Expert rules</a:t>
            </a:r>
            <a:endParaRPr lang="en-US" sz="1600" dirty="0"/>
          </a:p>
          <a:p>
            <a:pPr indent="0" marL="0">
              <a:buNone/>
            </a:pPr>
            <a:r>
              <a:rPr lang="en-US" sz="1300" dirty="0">
                <a:solidFill>
                  <a:srgbClr val="64748B"/>
                </a:solidFill>
              </a:rPr>
              <a:t>PIN requests, fees, cut-off threats, headers</a:t>
            </a:r>
            <a:endParaRPr lang="en-US" sz="1600" dirty="0"/>
          </a:p>
        </p:txBody>
      </p:sp>
      <p:sp>
        <p:nvSpPr>
          <p:cNvPr id="17" name="Text 14"/>
          <p:cNvSpPr txBox="1"/>
          <p:nvPr/>
        </p:nvSpPr>
        <p:spPr>
          <a:xfrm>
            <a:off x="5303520" y="5303520"/>
            <a:ext cx="6400800" cy="914400"/>
          </a:xfrm>
          <a:prstGeom prst="rect">
            <a:avLst/>
          </a:prstGeom>
          <a:noFill/>
          <a:ln/>
        </p:spPr>
        <p:txBody>
          <a:bodyPr wrap="square" lIns="0" tIns="0" rIns="0" bIns="0" rtlCol="0" anchor="ctr"/>
          <a:lstStyle/>
          <a:p>
            <a:pPr indent="0" marL="0">
              <a:buNone/>
            </a:pPr>
            <a:r>
              <a:rPr lang="en-US" sz="1400" b="1" dirty="0">
                <a:solidFill>
                  <a:srgbClr val="0F172A"/>
                </a:solidFill>
              </a:rPr>
              <a:t>Missing signal → weight redistributed.  </a:t>
            </a:r>
            <a:pPr indent="0" marL="0">
              <a:buNone/>
            </a:pPr>
            <a:r>
              <a:rPr lang="en-US" sz="1400" dirty="0">
                <a:solidFill>
                  <a:srgbClr val="0F172A"/>
                </a:solidFill>
              </a:rPr>
              <a:t>Blocklist / brand spoof → ≥ 85.  Official + authenticated + clean → ≤ 30.  Levels: &gt;80 Critical · &gt;60 High · &gt;40 Medium.</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00800"/>
            <a:ext cx="548640" cy="274320"/>
          </a:xfrm>
          <a:prstGeom prst="rect">
            <a:avLst/>
          </a:prstGeom>
          <a:noFill/>
          <a:ln/>
        </p:spPr>
        <p:txBody>
          <a:bodyPr wrap="square" lIns="0" tIns="0" rIns="0" bIns="0" rtlCol="0" anchor="ctr"/>
          <a:lstStyle/>
          <a:p>
            <a:pPr algn="r" indent="0" marL="0">
              <a:buNone/>
            </a:pPr>
            <a:r>
              <a:rPr lang="en-US" sz="1000" dirty="0">
                <a:solidFill>
                  <a:srgbClr val="64748B"/>
                </a:solidFill>
              </a:rPr>
              <a:t>9</a:t>
            </a:r>
            <a:endParaRPr lang="en-US" sz="1000" dirty="0"/>
          </a:p>
        </p:txBody>
      </p:sp>
      <p:sp>
        <p:nvSpPr>
          <p:cNvPr id="3" name="Text 1"/>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Where did this e-mail really come from?</a:t>
            </a:r>
            <a:endParaRPr lang="en-US" sz="3200" dirty="0"/>
          </a:p>
        </p:txBody>
      </p:sp>
      <p:sp>
        <p:nvSpPr>
          <p:cNvPr id="4" name="Text 2"/>
          <p:cNvSpPr txBox="1"/>
          <p:nvPr/>
        </p:nvSpPr>
        <p:spPr>
          <a:xfrm>
            <a:off x="548640" y="1005840"/>
            <a:ext cx="11064240" cy="411480"/>
          </a:xfrm>
          <a:prstGeom prst="rect">
            <a:avLst/>
          </a:prstGeom>
          <a:noFill/>
          <a:ln/>
        </p:spPr>
        <p:txBody>
          <a:bodyPr wrap="square" lIns="0" tIns="0" rIns="0" bIns="0" rtlCol="0" anchor="ctr"/>
          <a:lstStyle/>
          <a:p>
            <a:pPr indent="0" marL="0">
              <a:buNone/>
            </a:pPr>
            <a:r>
              <a:rPr lang="en-US" sz="1600" i="1" dirty="0">
                <a:solidFill>
                  <a:srgbClr val="64748B"/>
                </a:solidFill>
                <a:latin typeface="Calibri" pitchFamily="34" charset="0"/>
                <a:ea typeface="Calibri" pitchFamily="34" charset="-122"/>
                <a:cs typeface="Calibri" pitchFamily="34" charset="-120"/>
              </a:rPr>
              <a:t>Sender-origin tracing from the Received headers</a:t>
            </a:r>
            <a:endParaRPr lang="en-US" sz="1600" dirty="0"/>
          </a:p>
        </p:txBody>
      </p:sp>
      <p:pic>
        <p:nvPicPr>
          <p:cNvPr id="5" name="Image 0" descr="C:\Users\HP\AppData\Local\Temp\claude\j--PhishGuard\ca0c545f-7cb4-4742-8c08-f5a0631ede70\scratchpad\report\shots\24-origin-path.png">    </p:cNvPr>
          <p:cNvPicPr>
            <a:picLocks noChangeAspect="1"/>
          </p:cNvPicPr>
          <p:nvPr/>
        </p:nvPicPr>
        <p:blipFill>
          <a:blip r:embed="rId1"/>
          <a:stretch>
            <a:fillRect/>
          </a:stretch>
        </p:blipFill>
        <p:spPr>
          <a:xfrm>
            <a:off x="457200" y="1817370"/>
            <a:ext cx="6766560" cy="4229100"/>
          </a:xfrm>
          <a:prstGeom prst="rect">
            <a:avLst/>
          </a:prstGeom>
          <a:effectLst>
            <a:outerShdw sx="100000" sy="100000" kx="0" ky="0" algn="bl" rotWithShape="0" blurRad="101600" dist="38100" dir="5400000">
              <a:srgbClr val="000000">
                <a:alpha val="18000"/>
              </a:srgbClr>
            </a:outerShdw>
          </a:effectLst>
        </p:spPr>
      </p:pic>
      <p:sp>
        <p:nvSpPr>
          <p:cNvPr id="6" name="Text 3"/>
          <p:cNvSpPr txBox="1"/>
          <p:nvPr/>
        </p:nvSpPr>
        <p:spPr>
          <a:xfrm>
            <a:off x="7498080" y="1645920"/>
            <a:ext cx="4297680" cy="4572000"/>
          </a:xfrm>
          <a:prstGeom prst="rect">
            <a:avLst/>
          </a:prstGeom>
          <a:noFill/>
          <a:ln/>
        </p:spPr>
        <p:txBody>
          <a:bodyPr wrap="square" rtlCol="0" anchor="t"/>
          <a:lstStyle/>
          <a:p>
            <a:pPr marL="342900" indent="-342900">
              <a:spcAft>
                <a:spcPts val="800"/>
              </a:spcAft>
              <a:buSzPct val="100000"/>
              <a:buChar char="•"/>
            </a:pPr>
            <a:r>
              <a:rPr lang="en-US" sz="1500" dirty="0">
                <a:solidFill>
                  <a:srgbClr val="0F172A"/>
                </a:solidFill>
                <a:latin typeface="Calibri" pitchFamily="34" charset="0"/>
                <a:ea typeface="Calibri" pitchFamily="34" charset="-122"/>
                <a:cs typeface="Calibri" pitchFamily="34" charset="-120"/>
              </a:rPr>
              <a:t>Read the Received chain bottom-up → first public IP</a:t>
            </a:r>
            <a:endParaRPr lang="en-US" sz="1500" dirty="0"/>
          </a:p>
          <a:p>
            <a:pPr marL="342900" indent="-342900">
              <a:spcAft>
                <a:spcPts val="800"/>
              </a:spcAft>
              <a:buSzPct val="100000"/>
              <a:buChar char="•"/>
            </a:pPr>
            <a:r>
              <a:rPr lang="en-US" sz="1500" dirty="0">
                <a:solidFill>
                  <a:srgbClr val="0F172A"/>
                </a:solidFill>
                <a:latin typeface="Calibri" pitchFamily="34" charset="0"/>
                <a:ea typeface="Calibri" pitchFamily="34" charset="-122"/>
                <a:cs typeface="Calibri" pitchFamily="34" charset="-120"/>
              </a:rPr>
              <a:t>Geolocate, reverse DNS, ASN, 3 DNS blacklists</a:t>
            </a:r>
            <a:endParaRPr lang="en-US" sz="1500" dirty="0"/>
          </a:p>
          <a:p>
            <a:pPr marL="342900" indent="-342900">
              <a:spcAft>
                <a:spcPts val="800"/>
              </a:spcAft>
              <a:buSzPct val="100000"/>
              <a:buChar char="•"/>
            </a:pPr>
            <a:r>
              <a:rPr lang="en-US" sz="1500" dirty="0">
                <a:solidFill>
                  <a:srgbClr val="0F172A"/>
                </a:solidFill>
                <a:latin typeface="Calibri" pitchFamily="34" charset="0"/>
                <a:ea typeface="Calibri" pitchFamily="34" charset="-122"/>
                <a:cs typeface="Calibri" pitchFamily="34" charset="-120"/>
              </a:rPr>
              <a:t>Flags: datacentre, proxy, scripted mailer, foreign sender for a local brand, time-zone mismatch</a:t>
            </a:r>
            <a:endParaRPr lang="en-US" sz="1500" dirty="0"/>
          </a:p>
          <a:p>
            <a:pPr marL="342900" indent="-342900">
              <a:spcAft>
                <a:spcPts val="800"/>
              </a:spcAft>
              <a:buSzPct val="100000"/>
              <a:buChar char="•"/>
            </a:pPr>
            <a:r>
              <a:rPr lang="en-US" sz="1500" dirty="0">
                <a:solidFill>
                  <a:srgbClr val="0F172A"/>
                </a:solidFill>
                <a:latin typeface="Calibri" pitchFamily="34" charset="0"/>
                <a:ea typeface="Calibri" pitchFamily="34" charset="-122"/>
                <a:cs typeface="Calibri" pitchFamily="34" charset="-120"/>
              </a:rPr>
              <a:t>Gmail hides the sender → reported as hidden, never mis-located</a:t>
            </a:r>
            <a:endParaRPr lang="en-US" sz="1500" dirty="0"/>
          </a:p>
          <a:p>
            <a:pPr marL="342900" indent="-342900">
              <a:spcAft>
                <a:spcPts val="800"/>
              </a:spcAft>
              <a:buSzPct val="100000"/>
              <a:buChar char="•"/>
            </a:pPr>
            <a:r>
              <a:rPr lang="en-US" sz="1500" dirty="0">
                <a:solidFill>
                  <a:srgbClr val="0F172A"/>
                </a:solidFill>
                <a:latin typeface="Calibri" pitchFamily="34" charset="0"/>
                <a:ea typeface="Calibri" pitchFamily="34" charset="-122"/>
                <a:cs typeface="Calibri" pitchFamily="34" charset="-120"/>
              </a:rPr>
              <a:t>User sees a simple card; admin sees full path (audited)</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00800"/>
            <a:ext cx="548640" cy="274320"/>
          </a:xfrm>
          <a:prstGeom prst="rect">
            <a:avLst/>
          </a:prstGeom>
          <a:noFill/>
          <a:ln/>
        </p:spPr>
        <p:txBody>
          <a:bodyPr wrap="square" lIns="0" tIns="0" rIns="0" bIns="0" rtlCol="0" anchor="ctr"/>
          <a:lstStyle/>
          <a:p>
            <a:pPr algn="r" indent="0" marL="0">
              <a:buNone/>
            </a:pPr>
            <a:r>
              <a:rPr lang="en-US" sz="1000" dirty="0">
                <a:solidFill>
                  <a:srgbClr val="64748B"/>
                </a:solidFill>
              </a:rPr>
              <a:t>10</a:t>
            </a:r>
            <a:endParaRPr lang="en-US" sz="1000" dirty="0"/>
          </a:p>
        </p:txBody>
      </p:sp>
      <p:sp>
        <p:nvSpPr>
          <p:cNvPr id="3" name="Text 1"/>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Citizen experience</a:t>
            </a:r>
            <a:endParaRPr lang="en-US" sz="3200" dirty="0"/>
          </a:p>
        </p:txBody>
      </p:sp>
      <p:sp>
        <p:nvSpPr>
          <p:cNvPr id="4" name="Text 2"/>
          <p:cNvSpPr txBox="1"/>
          <p:nvPr/>
        </p:nvSpPr>
        <p:spPr>
          <a:xfrm>
            <a:off x="548640" y="1005840"/>
            <a:ext cx="11064240" cy="411480"/>
          </a:xfrm>
          <a:prstGeom prst="rect">
            <a:avLst/>
          </a:prstGeom>
          <a:noFill/>
          <a:ln/>
        </p:spPr>
        <p:txBody>
          <a:bodyPr wrap="square" lIns="0" tIns="0" rIns="0" bIns="0" rtlCol="0" anchor="ctr"/>
          <a:lstStyle/>
          <a:p>
            <a:pPr indent="0" marL="0">
              <a:buNone/>
            </a:pPr>
            <a:r>
              <a:rPr lang="en-US" sz="1600" i="1" dirty="0">
                <a:solidFill>
                  <a:srgbClr val="64748B"/>
                </a:solidFill>
                <a:latin typeface="Calibri" pitchFamily="34" charset="0"/>
                <a:ea typeface="Calibri" pitchFamily="34" charset="-122"/>
                <a:cs typeface="Calibri" pitchFamily="34" charset="-120"/>
              </a:rPr>
              <a:t>Analyse first, reveal after sign-in, explain everything</a:t>
            </a:r>
            <a:endParaRPr lang="en-US" sz="1600" dirty="0"/>
          </a:p>
        </p:txBody>
      </p:sp>
      <p:pic>
        <p:nvPicPr>
          <p:cNvPr id="5" name="Image 0" descr="C:\Users\HP\AppData\Local\Temp\claude\j--PhishGuard\ca0c545f-7cb4-4742-8c08-f5a0631ede70\scratchpad\report\shots\05-scan-progress.png">    </p:cNvPr>
          <p:cNvPicPr>
            <a:picLocks noChangeAspect="1"/>
          </p:cNvPicPr>
          <p:nvPr/>
        </p:nvPicPr>
        <p:blipFill>
          <a:blip r:embed="rId1"/>
          <a:stretch>
            <a:fillRect/>
          </a:stretch>
        </p:blipFill>
        <p:spPr>
          <a:xfrm>
            <a:off x="457200" y="2314575"/>
            <a:ext cx="3566160" cy="2228850"/>
          </a:xfrm>
          <a:prstGeom prst="rect">
            <a:avLst/>
          </a:prstGeom>
          <a:effectLst>
            <a:outerShdw sx="100000" sy="100000" kx="0" ky="0" algn="bl" rotWithShape="0" blurRad="101600" dist="38100" dir="5400000">
              <a:srgbClr val="000000">
                <a:alpha val="18000"/>
              </a:srgbClr>
            </a:outerShdw>
          </a:effectLst>
        </p:spPr>
      </p:pic>
      <p:sp>
        <p:nvSpPr>
          <p:cNvPr id="6" name="Text 3"/>
          <p:cNvSpPr txBox="1"/>
          <p:nvPr/>
        </p:nvSpPr>
        <p:spPr>
          <a:xfrm>
            <a:off x="457200" y="5394960"/>
            <a:ext cx="3566160" cy="457200"/>
          </a:xfrm>
          <a:prstGeom prst="rect">
            <a:avLst/>
          </a:prstGeom>
          <a:noFill/>
          <a:ln/>
        </p:spPr>
        <p:txBody>
          <a:bodyPr wrap="square" lIns="0" tIns="0" rIns="0" bIns="0" rtlCol="0" anchor="ctr"/>
          <a:lstStyle/>
          <a:p>
            <a:pPr algn="ctr" indent="0" marL="0">
              <a:buNone/>
            </a:pPr>
            <a:r>
              <a:rPr lang="en-US" sz="1700" b="1" dirty="0">
                <a:solidFill>
                  <a:srgbClr val="0B1F3A"/>
                </a:solidFill>
              </a:rPr>
              <a:t>1. Live analysis</a:t>
            </a:r>
            <a:endParaRPr lang="en-US" sz="1700" dirty="0"/>
          </a:p>
        </p:txBody>
      </p:sp>
      <p:pic>
        <p:nvPicPr>
          <p:cNvPr id="7" name="Image 1" descr="C:\Users\HP\AppData\Local\Temp\claude\j--PhishGuard\ca0c545f-7cb4-4742-8c08-f5a0631ede70\scratchpad\report\shots\06-visitor-gate.png">    </p:cNvPr>
          <p:cNvPicPr>
            <a:picLocks noChangeAspect="1"/>
          </p:cNvPicPr>
          <p:nvPr/>
        </p:nvPicPr>
        <p:blipFill>
          <a:blip r:embed="rId2"/>
          <a:stretch>
            <a:fillRect/>
          </a:stretch>
        </p:blipFill>
        <p:spPr>
          <a:xfrm>
            <a:off x="4297680" y="2314575"/>
            <a:ext cx="3566160" cy="2228850"/>
          </a:xfrm>
          <a:prstGeom prst="rect">
            <a:avLst/>
          </a:prstGeom>
          <a:effectLst>
            <a:outerShdw sx="100000" sy="100000" kx="0" ky="0" algn="bl" rotWithShape="0" blurRad="101600" dist="38100" dir="5400000">
              <a:srgbClr val="000000">
                <a:alpha val="18000"/>
              </a:srgbClr>
            </a:outerShdw>
          </a:effectLst>
        </p:spPr>
      </p:pic>
      <p:sp>
        <p:nvSpPr>
          <p:cNvPr id="8" name="Text 4"/>
          <p:cNvSpPr txBox="1"/>
          <p:nvPr/>
        </p:nvSpPr>
        <p:spPr>
          <a:xfrm>
            <a:off x="4297680" y="5394960"/>
            <a:ext cx="3566160" cy="457200"/>
          </a:xfrm>
          <a:prstGeom prst="rect">
            <a:avLst/>
          </a:prstGeom>
          <a:noFill/>
          <a:ln/>
        </p:spPr>
        <p:txBody>
          <a:bodyPr wrap="square" lIns="0" tIns="0" rIns="0" bIns="0" rtlCol="0" anchor="ctr"/>
          <a:lstStyle/>
          <a:p>
            <a:pPr algn="ctr" indent="0" marL="0">
              <a:buNone/>
            </a:pPr>
            <a:r>
              <a:rPr lang="en-US" sz="1700" b="1" dirty="0">
                <a:solidFill>
                  <a:srgbClr val="0B1F3A"/>
                </a:solidFill>
              </a:rPr>
              <a:t>2. Result gated</a:t>
            </a:r>
            <a:endParaRPr lang="en-US" sz="1700" dirty="0"/>
          </a:p>
        </p:txBody>
      </p:sp>
      <p:pic>
        <p:nvPicPr>
          <p:cNvPr id="9" name="Image 2" descr="C:\Users\HP\AppData\Local\Temp\claude\j--PhishGuard\ca0c545f-7cb4-4742-8c08-f5a0631ede70\scratchpad\report\shots\12-result-card.png">    </p:cNvPr>
          <p:cNvPicPr>
            <a:picLocks noChangeAspect="1"/>
          </p:cNvPicPr>
          <p:nvPr/>
        </p:nvPicPr>
        <p:blipFill>
          <a:blip r:embed="rId3"/>
          <a:stretch>
            <a:fillRect/>
          </a:stretch>
        </p:blipFill>
        <p:spPr>
          <a:xfrm>
            <a:off x="8138160" y="2314575"/>
            <a:ext cx="3566160" cy="2228850"/>
          </a:xfrm>
          <a:prstGeom prst="rect">
            <a:avLst/>
          </a:prstGeom>
          <a:effectLst>
            <a:outerShdw sx="100000" sy="100000" kx="0" ky="0" algn="bl" rotWithShape="0" blurRad="101600" dist="38100" dir="5400000">
              <a:srgbClr val="000000">
                <a:alpha val="18000"/>
              </a:srgbClr>
            </a:outerShdw>
          </a:effectLst>
        </p:spPr>
      </p:pic>
      <p:sp>
        <p:nvSpPr>
          <p:cNvPr id="10" name="Text 5"/>
          <p:cNvSpPr txBox="1"/>
          <p:nvPr/>
        </p:nvSpPr>
        <p:spPr>
          <a:xfrm>
            <a:off x="8138160" y="5394960"/>
            <a:ext cx="3566160" cy="457200"/>
          </a:xfrm>
          <a:prstGeom prst="rect">
            <a:avLst/>
          </a:prstGeom>
          <a:noFill/>
          <a:ln/>
        </p:spPr>
        <p:txBody>
          <a:bodyPr wrap="square" lIns="0" tIns="0" rIns="0" bIns="0" rtlCol="0" anchor="ctr"/>
          <a:lstStyle/>
          <a:p>
            <a:pPr algn="ctr" indent="0" marL="0">
              <a:buNone/>
            </a:pPr>
            <a:r>
              <a:rPr lang="en-US" sz="1700" b="1" dirty="0">
                <a:solidFill>
                  <a:srgbClr val="0B1F3A"/>
                </a:solidFill>
              </a:rPr>
              <a:t>3. Explained verdict</a:t>
            </a:r>
            <a:endParaRPr lang="en-US" sz="1700" dirty="0"/>
          </a:p>
        </p:txBody>
      </p:sp>
      <p:sp>
        <p:nvSpPr>
          <p:cNvPr id="11" name="Text 6"/>
          <p:cNvSpPr txBox="1"/>
          <p:nvPr/>
        </p:nvSpPr>
        <p:spPr>
          <a:xfrm>
            <a:off x="548640" y="5897880"/>
            <a:ext cx="11064240" cy="457200"/>
          </a:xfrm>
          <a:prstGeom prst="rect">
            <a:avLst/>
          </a:prstGeom>
          <a:noFill/>
          <a:ln/>
        </p:spPr>
        <p:txBody>
          <a:bodyPr wrap="square" lIns="0" tIns="0" rIns="0" bIns="0" rtlCol="0" anchor="ctr"/>
          <a:lstStyle/>
          <a:p>
            <a:pPr indent="0" marL="0">
              <a:buNone/>
            </a:pPr>
            <a:r>
              <a:rPr lang="en-US" sz="1400" i="1" dirty="0">
                <a:solidFill>
                  <a:srgbClr val="64748B"/>
                </a:solidFill>
              </a:rPr>
              <a:t>Visitors never receive a verdict: only a single-use claim token (SHA-256 stored, 24 h), so scammers cannot test their messages anonymously.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00800"/>
            <a:ext cx="548640" cy="274320"/>
          </a:xfrm>
          <a:prstGeom prst="rect">
            <a:avLst/>
          </a:prstGeom>
          <a:noFill/>
          <a:ln/>
        </p:spPr>
        <p:txBody>
          <a:bodyPr wrap="square" lIns="0" tIns="0" rIns="0" bIns="0" rtlCol="0" anchor="ctr"/>
          <a:lstStyle/>
          <a:p>
            <a:pPr algn="r" indent="0" marL="0">
              <a:buNone/>
            </a:pPr>
            <a:r>
              <a:rPr lang="en-US" sz="1000" dirty="0">
                <a:solidFill>
                  <a:srgbClr val="64748B"/>
                </a:solidFill>
              </a:rPr>
              <a:t>11</a:t>
            </a:r>
            <a:endParaRPr lang="en-US" sz="1000" dirty="0"/>
          </a:p>
        </p:txBody>
      </p:sp>
      <p:sp>
        <p:nvSpPr>
          <p:cNvPr id="3" name="Text 1"/>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Multi-channel and awareness</a:t>
            </a:r>
            <a:endParaRPr lang="en-US" sz="3200" dirty="0"/>
          </a:p>
        </p:txBody>
      </p:sp>
      <p:pic>
        <p:nvPicPr>
          <p:cNvPr id="4" name="Image 0" descr="C:\Users\HP\AppData\Local\Temp\claude\j--PhishGuard\ca0c545f-7cb4-4742-8c08-f5a0631ede70\scratchpad\report\shots\17-mobile-result.png">    </p:cNvPr>
          <p:cNvPicPr>
            <a:picLocks noChangeAspect="1"/>
          </p:cNvPicPr>
          <p:nvPr/>
        </p:nvPicPr>
        <p:blipFill>
          <a:blip r:embed="rId1"/>
          <a:stretch>
            <a:fillRect/>
          </a:stretch>
        </p:blipFill>
        <p:spPr>
          <a:xfrm>
            <a:off x="462834" y="1280160"/>
            <a:ext cx="2366173" cy="5120640"/>
          </a:xfrm>
          <a:prstGeom prst="rect">
            <a:avLst/>
          </a:prstGeom>
          <a:effectLst>
            <a:outerShdw sx="100000" sy="100000" kx="0" ky="0" algn="bl" rotWithShape="0" blurRad="101600" dist="38100" dir="5400000">
              <a:srgbClr val="000000">
                <a:alpha val="18000"/>
              </a:srgbClr>
            </a:outerShdw>
          </a:effectLst>
        </p:spPr>
      </p:pic>
      <p:pic>
        <p:nvPicPr>
          <p:cNvPr id="5" name="Image 1" descr="C:\Users\HP\AppData\Local\Temp\claude\j--PhishGuard\ca0c545f-7cb4-4742-8c08-f5a0631ede70\scratchpad\report\shots\16-mailboxes.png">    </p:cNvPr>
          <p:cNvPicPr>
            <a:picLocks noChangeAspect="1"/>
          </p:cNvPicPr>
          <p:nvPr/>
        </p:nvPicPr>
        <p:blipFill>
          <a:blip r:embed="rId2"/>
          <a:stretch>
            <a:fillRect/>
          </a:stretch>
        </p:blipFill>
        <p:spPr>
          <a:xfrm>
            <a:off x="3419856" y="1280160"/>
            <a:ext cx="3950208" cy="2468880"/>
          </a:xfrm>
          <a:prstGeom prst="rect">
            <a:avLst/>
          </a:prstGeom>
          <a:effectLst>
            <a:outerShdw sx="100000" sy="100000" kx="0" ky="0" algn="bl" rotWithShape="0" blurRad="101600" dist="38100" dir="5400000">
              <a:srgbClr val="000000">
                <a:alpha val="18000"/>
              </a:srgbClr>
            </a:outerShdw>
          </a:effectLst>
        </p:spPr>
      </p:pic>
      <p:pic>
        <p:nvPicPr>
          <p:cNvPr id="6" name="Image 2" descr="C:\Users\HP\AppData\Local\Temp\claude\j--PhishGuard\ca0c545f-7cb4-4742-8c08-f5a0631ede70\scratchpad\report\shots\03-learn-answer.png">    </p:cNvPr>
          <p:cNvPicPr>
            <a:picLocks noChangeAspect="1"/>
          </p:cNvPicPr>
          <p:nvPr/>
        </p:nvPicPr>
        <p:blipFill>
          <a:blip r:embed="rId3"/>
          <a:stretch>
            <a:fillRect/>
          </a:stretch>
        </p:blipFill>
        <p:spPr>
          <a:xfrm>
            <a:off x="3419856" y="3931920"/>
            <a:ext cx="3950208" cy="2468880"/>
          </a:xfrm>
          <a:prstGeom prst="rect">
            <a:avLst/>
          </a:prstGeom>
          <a:effectLst>
            <a:outerShdw sx="100000" sy="100000" kx="0" ky="0" algn="bl" rotWithShape="0" blurRad="101600" dist="38100" dir="5400000">
              <a:srgbClr val="000000">
                <a:alpha val="18000"/>
              </a:srgbClr>
            </a:outerShdw>
          </a:effectLst>
        </p:spPr>
      </p:pic>
      <p:sp>
        <p:nvSpPr>
          <p:cNvPr id="7" name="Text 2"/>
          <p:cNvSpPr txBox="1"/>
          <p:nvPr/>
        </p:nvSpPr>
        <p:spPr>
          <a:xfrm>
            <a:off x="8046720" y="1463040"/>
            <a:ext cx="3840480" cy="4572000"/>
          </a:xfrm>
          <a:prstGeom prst="rect">
            <a:avLst/>
          </a:prstGeom>
          <a:noFill/>
          <a:ln/>
        </p:spPr>
        <p:txBody>
          <a:bodyPr wrap="square" rtlCol="0" anchor="t"/>
          <a:lstStyle/>
          <a:p>
            <a:pPr marL="342900" indent="-342900">
              <a:spcAft>
                <a:spcPts val="800"/>
              </a:spcAft>
              <a:buSzPct val="100000"/>
              <a:buChar char="•"/>
            </a:pPr>
            <a:r>
              <a:rPr lang="en-US" sz="1600" dirty="0">
                <a:solidFill>
                  <a:srgbClr val="0F172A"/>
                </a:solidFill>
                <a:latin typeface="Calibri" pitchFamily="34" charset="0"/>
                <a:ea typeface="Calibri" pitchFamily="34" charset="-122"/>
                <a:cs typeface="Calibri" pitchFamily="34" charset="-120"/>
              </a:rPr>
              <a:t>Phone-first PWA, Android share target</a:t>
            </a:r>
            <a:endParaRPr lang="en-US" sz="1600" dirty="0"/>
          </a:p>
          <a:p>
            <a:pPr marL="342900" indent="-342900">
              <a:spcAft>
                <a:spcPts val="800"/>
              </a:spcAft>
              <a:buSzPct val="100000"/>
              <a:buChar char="•"/>
            </a:pPr>
            <a:r>
              <a:rPr lang="en-US" sz="1600" dirty="0">
                <a:solidFill>
                  <a:srgbClr val="0F172A"/>
                </a:solidFill>
                <a:latin typeface="Calibri" pitchFamily="34" charset="0"/>
                <a:ea typeface="Calibri" pitchFamily="34" charset="-122"/>
                <a:cs typeface="Calibri" pitchFamily="34" charset="-120"/>
              </a:rPr>
              <a:t>Screenshot OCR in the browser</a:t>
            </a:r>
            <a:endParaRPr lang="en-US" sz="1600" dirty="0"/>
          </a:p>
          <a:p>
            <a:pPr marL="342900" indent="-342900">
              <a:spcAft>
                <a:spcPts val="800"/>
              </a:spcAft>
              <a:buSzPct val="100000"/>
              <a:buChar char="•"/>
            </a:pPr>
            <a:r>
              <a:rPr lang="en-US" sz="1600" dirty="0">
                <a:solidFill>
                  <a:srgbClr val="0F172A"/>
                </a:solidFill>
                <a:latin typeface="Calibri" pitchFamily="34" charset="0"/>
                <a:ea typeface="Calibri" pitchFamily="34" charset="-122"/>
                <a:cs typeface="Calibri" pitchFamily="34" charset="-120"/>
              </a:rPr>
              <a:t>Gmail / Outlook read-only (OAuth), encrypted tokens</a:t>
            </a:r>
            <a:endParaRPr lang="en-US" sz="1600" dirty="0"/>
          </a:p>
          <a:p>
            <a:pPr marL="342900" indent="-342900">
              <a:spcAft>
                <a:spcPts val="800"/>
              </a:spcAft>
              <a:buSzPct val="100000"/>
              <a:buChar char="•"/>
            </a:pPr>
            <a:r>
              <a:rPr lang="en-US" sz="1600" dirty="0">
                <a:solidFill>
                  <a:srgbClr val="0F172A"/>
                </a:solidFill>
                <a:latin typeface="Calibri" pitchFamily="34" charset="0"/>
                <a:ea typeface="Calibri" pitchFamily="34" charset="-122"/>
                <a:cs typeface="Calibri" pitchFamily="34" charset="-120"/>
              </a:rPr>
              <a:t>Forward-to-PhishGuard address</a:t>
            </a:r>
            <a:endParaRPr lang="en-US" sz="1600" dirty="0"/>
          </a:p>
          <a:p>
            <a:pPr marL="342900" indent="-342900">
              <a:spcAft>
                <a:spcPts val="800"/>
              </a:spcAft>
              <a:buSzPct val="100000"/>
              <a:buChar char="•"/>
            </a:pPr>
            <a:r>
              <a:rPr lang="en-US" sz="1600" dirty="0">
                <a:solidFill>
                  <a:srgbClr val="0F172A"/>
                </a:solidFill>
                <a:latin typeface="Calibri" pitchFamily="34" charset="0"/>
                <a:ea typeface="Calibri" pitchFamily="34" charset="-122"/>
                <a:cs typeface="Calibri" pitchFamily="34" charset="-120"/>
              </a:rPr>
              <a:t>Quiz on local scams, read-aloud, FR / EN</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11338560" y="6400800"/>
            <a:ext cx="548640" cy="274320"/>
          </a:xfrm>
          <a:prstGeom prst="rect">
            <a:avLst/>
          </a:prstGeom>
          <a:noFill/>
          <a:ln/>
        </p:spPr>
        <p:txBody>
          <a:bodyPr wrap="square" lIns="0" tIns="0" rIns="0" bIns="0" rtlCol="0" anchor="ctr"/>
          <a:lstStyle/>
          <a:p>
            <a:pPr algn="r" indent="0" marL="0">
              <a:buNone/>
            </a:pPr>
            <a:r>
              <a:rPr lang="en-US" sz="1000" dirty="0">
                <a:solidFill>
                  <a:srgbClr val="94A3B8"/>
                </a:solidFill>
              </a:rPr>
              <a:t>12</a:t>
            </a:r>
            <a:endParaRPr lang="en-US" sz="1000" dirty="0"/>
          </a:p>
        </p:txBody>
      </p:sp>
      <p:sp>
        <p:nvSpPr>
          <p:cNvPr id="3" name="Text 1"/>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Security operations for administrators</a:t>
            </a:r>
            <a:endParaRPr lang="en-US" sz="3200" dirty="0"/>
          </a:p>
        </p:txBody>
      </p:sp>
      <p:sp>
        <p:nvSpPr>
          <p:cNvPr id="4" name="Text 2"/>
          <p:cNvSpPr txBox="1"/>
          <p:nvPr/>
        </p:nvSpPr>
        <p:spPr>
          <a:xfrm>
            <a:off x="548640" y="1005840"/>
            <a:ext cx="11064240" cy="411480"/>
          </a:xfrm>
          <a:prstGeom prst="rect">
            <a:avLst/>
          </a:prstGeom>
          <a:noFill/>
          <a:ln/>
        </p:spPr>
        <p:txBody>
          <a:bodyPr wrap="square" lIns="0" tIns="0" rIns="0" bIns="0" rtlCol="0" anchor="ctr"/>
          <a:lstStyle/>
          <a:p>
            <a:pPr indent="0" marL="0">
              <a:buNone/>
            </a:pPr>
            <a:r>
              <a:rPr lang="en-US" sz="1600" i="1" dirty="0">
                <a:solidFill>
                  <a:srgbClr val="94A3B8"/>
                </a:solidFill>
                <a:latin typeface="Calibri" pitchFamily="34" charset="0"/>
                <a:ea typeface="Calibri" pitchFamily="34" charset="-122"/>
                <a:cs typeface="Calibri" pitchFamily="34" charset="-120"/>
              </a:rPr>
              <a:t>From individual reports to collective intelligence</a:t>
            </a:r>
            <a:endParaRPr lang="en-US" sz="1600" dirty="0"/>
          </a:p>
        </p:txBody>
      </p:sp>
      <p:pic>
        <p:nvPicPr>
          <p:cNvPr id="5" name="Image 0" descr="C:\Users\HP\AppData\Local\Temp\claude\j--PhishGuard\ca0c545f-7cb4-4742-8c08-f5a0631ede70\scratchpad\report\shots\21-threat-radar.png">    </p:cNvPr>
          <p:cNvPicPr>
            <a:picLocks noChangeAspect="1"/>
          </p:cNvPicPr>
          <p:nvPr/>
        </p:nvPicPr>
        <p:blipFill>
          <a:blip r:embed="rId1"/>
          <a:stretch>
            <a:fillRect/>
          </a:stretch>
        </p:blipFill>
        <p:spPr>
          <a:xfrm>
            <a:off x="457200" y="1583055"/>
            <a:ext cx="5760720" cy="3600450"/>
          </a:xfrm>
          <a:prstGeom prst="rect">
            <a:avLst/>
          </a:prstGeom>
          <a:effectLst>
            <a:outerShdw sx="100000" sy="100000" kx="0" ky="0" algn="bl" rotWithShape="0" blurRad="101600" dist="38100" dir="5400000">
              <a:srgbClr val="000000">
                <a:alpha val="18000"/>
              </a:srgbClr>
            </a:outerShdw>
          </a:effectLst>
        </p:spPr>
      </p:pic>
      <p:pic>
        <p:nvPicPr>
          <p:cNvPr id="6" name="Image 1" descr="C:\Users\HP\AppData\Local\Temp\claude\j--PhishGuard\ca0c545f-7cb4-4742-8c08-f5a0631ede70\scratchpad\report\shots\29-incident-detail.png">    </p:cNvPr>
          <p:cNvPicPr>
            <a:picLocks noChangeAspect="1"/>
          </p:cNvPicPr>
          <p:nvPr/>
        </p:nvPicPr>
        <p:blipFill>
          <a:blip r:embed="rId2"/>
          <a:stretch>
            <a:fillRect/>
          </a:stretch>
        </p:blipFill>
        <p:spPr>
          <a:xfrm>
            <a:off x="6400800" y="1725930"/>
            <a:ext cx="5303520" cy="3314700"/>
          </a:xfrm>
          <a:prstGeom prst="rect">
            <a:avLst/>
          </a:prstGeom>
          <a:effectLst>
            <a:outerShdw sx="100000" sy="100000" kx="0" ky="0" algn="bl" rotWithShape="0" blurRad="101600" dist="38100" dir="5400000">
              <a:srgbClr val="000000">
                <a:alpha val="18000"/>
              </a:srgbClr>
            </a:outerShdw>
          </a:effectLst>
        </p:spPr>
      </p:pic>
      <p:sp>
        <p:nvSpPr>
          <p:cNvPr id="7" name="Text 3"/>
          <p:cNvSpPr txBox="1"/>
          <p:nvPr/>
        </p:nvSpPr>
        <p:spPr>
          <a:xfrm>
            <a:off x="548640" y="5486400"/>
            <a:ext cx="11064240" cy="731520"/>
          </a:xfrm>
          <a:prstGeom prst="rect">
            <a:avLst/>
          </a:prstGeom>
          <a:noFill/>
          <a:ln/>
        </p:spPr>
        <p:txBody>
          <a:bodyPr wrap="square" lIns="0" tIns="0" rIns="0" bIns="0" rtlCol="0" anchor="ctr"/>
          <a:lstStyle/>
          <a:p>
            <a:pPr indent="0" marL="0">
              <a:buNone/>
            </a:pPr>
            <a:r>
              <a:rPr lang="en-US" sz="1600" dirty="0">
                <a:solidFill>
                  <a:srgbClr val="CBD5E1"/>
                </a:solidFill>
              </a:rPr>
              <a:t>Risk-scored sign-ups · review queue with AI triage · incident correlation → blocklist · threat radar · system health · audit log · sudo mode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00800"/>
            <a:ext cx="548640" cy="274320"/>
          </a:xfrm>
          <a:prstGeom prst="rect">
            <a:avLst/>
          </a:prstGeom>
          <a:noFill/>
          <a:ln/>
        </p:spPr>
        <p:txBody>
          <a:bodyPr wrap="square" lIns="0" tIns="0" rIns="0" bIns="0" rtlCol="0" anchor="ctr"/>
          <a:lstStyle/>
          <a:p>
            <a:pPr algn="r" indent="0" marL="0">
              <a:buNone/>
            </a:pPr>
            <a:r>
              <a:rPr lang="en-US" sz="1000" dirty="0">
                <a:solidFill>
                  <a:srgbClr val="64748B"/>
                </a:solidFill>
              </a:rPr>
              <a:t>13</a:t>
            </a:r>
            <a:endParaRPr lang="en-US" sz="1000" dirty="0"/>
          </a:p>
        </p:txBody>
      </p:sp>
      <p:sp>
        <p:nvSpPr>
          <p:cNvPr id="3" name="Text 1"/>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Securing the platform itself</a:t>
            </a:r>
            <a:endParaRPr lang="en-US" sz="3200" dirty="0"/>
          </a:p>
        </p:txBody>
      </p:sp>
      <p:sp>
        <p:nvSpPr>
          <p:cNvPr id="4" name="Shape 2"/>
          <p:cNvSpPr/>
          <p:nvPr/>
        </p:nvSpPr>
        <p:spPr>
          <a:xfrm>
            <a:off x="548640" y="1463040"/>
            <a:ext cx="2560320" cy="2103120"/>
          </a:xfrm>
          <a:prstGeom prst="roundRect">
            <a:avLst>
              <a:gd name="adj" fmla="val 5217"/>
            </a:avLst>
          </a:prstGeom>
          <a:solidFill>
            <a:srgbClr val="F1F5F9"/>
          </a:solidFill>
          <a:ln/>
        </p:spPr>
      </p:sp>
      <p:sp>
        <p:nvSpPr>
          <p:cNvPr id="5" name="Shape 3"/>
          <p:cNvSpPr/>
          <p:nvPr/>
        </p:nvSpPr>
        <p:spPr>
          <a:xfrm>
            <a:off x="777240" y="1691640"/>
            <a:ext cx="502920" cy="502920"/>
          </a:xfrm>
          <a:prstGeom prst="ellipse">
            <a:avLst/>
          </a:prstGeom>
          <a:solidFill>
            <a:srgbClr val="0B1F3A"/>
          </a:solidFill>
          <a:ln/>
        </p:spPr>
      </p:sp>
      <p:sp>
        <p:nvSpPr>
          <p:cNvPr id="6" name="Text 4"/>
          <p:cNvSpPr txBox="1"/>
          <p:nvPr/>
        </p:nvSpPr>
        <p:spPr>
          <a:xfrm>
            <a:off x="777240" y="16916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7" name="Text 5"/>
          <p:cNvSpPr txBox="1"/>
          <p:nvPr/>
        </p:nvSpPr>
        <p:spPr>
          <a:xfrm>
            <a:off x="777240" y="2331720"/>
            <a:ext cx="2194560" cy="1097280"/>
          </a:xfrm>
          <a:prstGeom prst="rect">
            <a:avLst/>
          </a:prstGeom>
          <a:noFill/>
          <a:ln/>
        </p:spPr>
        <p:txBody>
          <a:bodyPr wrap="square" lIns="0" tIns="0" rIns="0" bIns="0" rtlCol="0" anchor="t"/>
          <a:lstStyle/>
          <a:p>
            <a:pPr indent="0" marL="0">
              <a:buNone/>
            </a:pPr>
            <a:r>
              <a:rPr lang="en-US" sz="1700" b="1" dirty="0">
                <a:solidFill>
                  <a:srgbClr val="0F172A"/>
                </a:solidFill>
              </a:rPr>
              <a:t>Least privilege</a:t>
            </a:r>
            <a:endParaRPr lang="en-US" sz="1700" dirty="0"/>
          </a:p>
          <a:p>
            <a:pPr indent="0" marL="0">
              <a:buNone/>
            </a:pPr>
            <a:r>
              <a:rPr lang="en-US" sz="1400" dirty="0">
                <a:solidFill>
                  <a:srgbClr val="64748B"/>
                </a:solidFill>
              </a:rPr>
              <a:t>Read-only mail scopes; roles</a:t>
            </a:r>
            <a:endParaRPr lang="en-US" sz="1700" dirty="0"/>
          </a:p>
        </p:txBody>
      </p:sp>
      <p:sp>
        <p:nvSpPr>
          <p:cNvPr id="8" name="Shape 6"/>
          <p:cNvSpPr/>
          <p:nvPr/>
        </p:nvSpPr>
        <p:spPr>
          <a:xfrm>
            <a:off x="3383280" y="1463040"/>
            <a:ext cx="2560320" cy="2103120"/>
          </a:xfrm>
          <a:prstGeom prst="roundRect">
            <a:avLst>
              <a:gd name="adj" fmla="val 5217"/>
            </a:avLst>
          </a:prstGeom>
          <a:solidFill>
            <a:srgbClr val="F1F5F9"/>
          </a:solidFill>
          <a:ln/>
        </p:spPr>
      </p:sp>
      <p:sp>
        <p:nvSpPr>
          <p:cNvPr id="9" name="Shape 7"/>
          <p:cNvSpPr/>
          <p:nvPr/>
        </p:nvSpPr>
        <p:spPr>
          <a:xfrm>
            <a:off x="3611880" y="1691640"/>
            <a:ext cx="502920" cy="502920"/>
          </a:xfrm>
          <a:prstGeom prst="ellipse">
            <a:avLst/>
          </a:prstGeom>
          <a:solidFill>
            <a:srgbClr val="0B1F3A"/>
          </a:solidFill>
          <a:ln/>
        </p:spPr>
      </p:sp>
      <p:sp>
        <p:nvSpPr>
          <p:cNvPr id="10" name="Text 8"/>
          <p:cNvSpPr txBox="1"/>
          <p:nvPr/>
        </p:nvSpPr>
        <p:spPr>
          <a:xfrm>
            <a:off x="3611880" y="16916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ext 9"/>
          <p:cNvSpPr txBox="1"/>
          <p:nvPr/>
        </p:nvSpPr>
        <p:spPr>
          <a:xfrm>
            <a:off x="3611880" y="2331720"/>
            <a:ext cx="2194560" cy="1097280"/>
          </a:xfrm>
          <a:prstGeom prst="rect">
            <a:avLst/>
          </a:prstGeom>
          <a:noFill/>
          <a:ln/>
        </p:spPr>
        <p:txBody>
          <a:bodyPr wrap="square" lIns="0" tIns="0" rIns="0" bIns="0" rtlCol="0" anchor="t"/>
          <a:lstStyle/>
          <a:p>
            <a:pPr indent="0" marL="0">
              <a:buNone/>
            </a:pPr>
            <a:r>
              <a:rPr lang="en-US" sz="1700" b="1" dirty="0">
                <a:solidFill>
                  <a:srgbClr val="0F172A"/>
                </a:solidFill>
              </a:rPr>
              <a:t>Fail-safe defaults</a:t>
            </a:r>
            <a:endParaRPr lang="en-US" sz="1700" dirty="0"/>
          </a:p>
          <a:p>
            <a:pPr indent="0" marL="0">
              <a:buNone/>
            </a:pPr>
            <a:r>
              <a:rPr lang="en-US" sz="1400" dirty="0">
                <a:solidFill>
                  <a:srgbClr val="64748B"/>
                </a:solidFill>
              </a:rPr>
              <a:t>No verdict for anonymous callers</a:t>
            </a:r>
            <a:endParaRPr lang="en-US" sz="1700" dirty="0"/>
          </a:p>
        </p:txBody>
      </p:sp>
      <p:sp>
        <p:nvSpPr>
          <p:cNvPr id="12" name="Shape 10"/>
          <p:cNvSpPr/>
          <p:nvPr/>
        </p:nvSpPr>
        <p:spPr>
          <a:xfrm>
            <a:off x="6217920" y="1463040"/>
            <a:ext cx="2560320" cy="2103120"/>
          </a:xfrm>
          <a:prstGeom prst="roundRect">
            <a:avLst>
              <a:gd name="adj" fmla="val 5217"/>
            </a:avLst>
          </a:prstGeom>
          <a:solidFill>
            <a:srgbClr val="F1F5F9"/>
          </a:solidFill>
          <a:ln/>
        </p:spPr>
      </p:sp>
      <p:sp>
        <p:nvSpPr>
          <p:cNvPr id="13" name="Shape 11"/>
          <p:cNvSpPr/>
          <p:nvPr/>
        </p:nvSpPr>
        <p:spPr>
          <a:xfrm>
            <a:off x="6446520" y="1691640"/>
            <a:ext cx="502920" cy="502920"/>
          </a:xfrm>
          <a:prstGeom prst="ellipse">
            <a:avLst/>
          </a:prstGeom>
          <a:solidFill>
            <a:srgbClr val="0B1F3A"/>
          </a:solidFill>
          <a:ln/>
        </p:spPr>
      </p:sp>
      <p:sp>
        <p:nvSpPr>
          <p:cNvPr id="14" name="Text 12"/>
          <p:cNvSpPr txBox="1"/>
          <p:nvPr/>
        </p:nvSpPr>
        <p:spPr>
          <a:xfrm>
            <a:off x="6446520" y="16916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5" name="Text 13"/>
          <p:cNvSpPr txBox="1"/>
          <p:nvPr/>
        </p:nvSpPr>
        <p:spPr>
          <a:xfrm>
            <a:off x="6446520" y="2331720"/>
            <a:ext cx="2194560" cy="1097280"/>
          </a:xfrm>
          <a:prstGeom prst="rect">
            <a:avLst/>
          </a:prstGeom>
          <a:noFill/>
          <a:ln/>
        </p:spPr>
        <p:txBody>
          <a:bodyPr wrap="square" lIns="0" tIns="0" rIns="0" bIns="0" rtlCol="0" anchor="t"/>
          <a:lstStyle/>
          <a:p>
            <a:pPr indent="0" marL="0">
              <a:buNone/>
            </a:pPr>
            <a:r>
              <a:rPr lang="en-US" sz="1700" b="1" dirty="0">
                <a:solidFill>
                  <a:srgbClr val="0F172A"/>
                </a:solidFill>
              </a:rPr>
              <a:t>Complete mediation</a:t>
            </a:r>
            <a:endParaRPr lang="en-US" sz="1700" dirty="0"/>
          </a:p>
          <a:p>
            <a:pPr indent="0" marL="0">
              <a:buNone/>
            </a:pPr>
            <a:r>
              <a:rPr lang="en-US" sz="1400" dirty="0">
                <a:solidFill>
                  <a:srgbClr val="64748B"/>
                </a:solidFill>
              </a:rPr>
              <a:t>Session re-checked every request</a:t>
            </a:r>
            <a:endParaRPr lang="en-US" sz="1700" dirty="0"/>
          </a:p>
        </p:txBody>
      </p:sp>
      <p:sp>
        <p:nvSpPr>
          <p:cNvPr id="16" name="Shape 14"/>
          <p:cNvSpPr/>
          <p:nvPr/>
        </p:nvSpPr>
        <p:spPr>
          <a:xfrm>
            <a:off x="9052560" y="1463040"/>
            <a:ext cx="2560320" cy="2103120"/>
          </a:xfrm>
          <a:prstGeom prst="roundRect">
            <a:avLst>
              <a:gd name="adj" fmla="val 5217"/>
            </a:avLst>
          </a:prstGeom>
          <a:solidFill>
            <a:srgbClr val="F1F5F9"/>
          </a:solidFill>
          <a:ln/>
        </p:spPr>
      </p:sp>
      <p:sp>
        <p:nvSpPr>
          <p:cNvPr id="17" name="Shape 15"/>
          <p:cNvSpPr/>
          <p:nvPr/>
        </p:nvSpPr>
        <p:spPr>
          <a:xfrm>
            <a:off x="9281160" y="1691640"/>
            <a:ext cx="502920" cy="502920"/>
          </a:xfrm>
          <a:prstGeom prst="ellipse">
            <a:avLst/>
          </a:prstGeom>
          <a:solidFill>
            <a:srgbClr val="0B1F3A"/>
          </a:solidFill>
          <a:ln/>
        </p:spPr>
      </p:sp>
      <p:sp>
        <p:nvSpPr>
          <p:cNvPr id="18" name="Text 16"/>
          <p:cNvSpPr txBox="1"/>
          <p:nvPr/>
        </p:nvSpPr>
        <p:spPr>
          <a:xfrm>
            <a:off x="9281160" y="16916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9" name="Text 17"/>
          <p:cNvSpPr txBox="1"/>
          <p:nvPr/>
        </p:nvSpPr>
        <p:spPr>
          <a:xfrm>
            <a:off x="9281160" y="2331720"/>
            <a:ext cx="2194560" cy="1097280"/>
          </a:xfrm>
          <a:prstGeom prst="rect">
            <a:avLst/>
          </a:prstGeom>
          <a:noFill/>
          <a:ln/>
        </p:spPr>
        <p:txBody>
          <a:bodyPr wrap="square" lIns="0" tIns="0" rIns="0" bIns="0" rtlCol="0" anchor="t"/>
          <a:lstStyle/>
          <a:p>
            <a:pPr indent="0" marL="0">
              <a:buNone/>
            </a:pPr>
            <a:r>
              <a:rPr lang="en-US" sz="1700" b="1" dirty="0">
                <a:solidFill>
                  <a:srgbClr val="0F172A"/>
                </a:solidFill>
              </a:rPr>
              <a:t>Separation of privilege</a:t>
            </a:r>
            <a:endParaRPr lang="en-US" sz="1700" dirty="0"/>
          </a:p>
          <a:p>
            <a:pPr indent="0" marL="0">
              <a:buNone/>
            </a:pPr>
            <a:r>
              <a:rPr lang="en-US" sz="1400" dirty="0">
                <a:solidFill>
                  <a:srgbClr val="64748B"/>
                </a:solidFill>
              </a:rPr>
              <a:t>Sudo mode for admin actions</a:t>
            </a:r>
            <a:endParaRPr lang="en-US" sz="1700" dirty="0"/>
          </a:p>
        </p:txBody>
      </p:sp>
      <p:sp>
        <p:nvSpPr>
          <p:cNvPr id="20" name="Shape 18"/>
          <p:cNvSpPr/>
          <p:nvPr/>
        </p:nvSpPr>
        <p:spPr>
          <a:xfrm>
            <a:off x="548640" y="3840480"/>
            <a:ext cx="2560320" cy="2103120"/>
          </a:xfrm>
          <a:prstGeom prst="roundRect">
            <a:avLst>
              <a:gd name="adj" fmla="val 5217"/>
            </a:avLst>
          </a:prstGeom>
          <a:solidFill>
            <a:srgbClr val="F1F5F9"/>
          </a:solidFill>
          <a:ln/>
        </p:spPr>
      </p:sp>
      <p:sp>
        <p:nvSpPr>
          <p:cNvPr id="21" name="Shape 19"/>
          <p:cNvSpPr/>
          <p:nvPr/>
        </p:nvSpPr>
        <p:spPr>
          <a:xfrm>
            <a:off x="777240" y="4069080"/>
            <a:ext cx="502920" cy="502920"/>
          </a:xfrm>
          <a:prstGeom prst="ellipse">
            <a:avLst/>
          </a:prstGeom>
          <a:solidFill>
            <a:srgbClr val="06B6D4"/>
          </a:solidFill>
          <a:ln/>
        </p:spPr>
      </p:sp>
      <p:sp>
        <p:nvSpPr>
          <p:cNvPr id="22" name="Text 20"/>
          <p:cNvSpPr txBox="1"/>
          <p:nvPr/>
        </p:nvSpPr>
        <p:spPr>
          <a:xfrm>
            <a:off x="777240" y="40690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23" name="Text 21"/>
          <p:cNvSpPr txBox="1"/>
          <p:nvPr/>
        </p:nvSpPr>
        <p:spPr>
          <a:xfrm>
            <a:off x="777240" y="4709160"/>
            <a:ext cx="2194560" cy="1097280"/>
          </a:xfrm>
          <a:prstGeom prst="rect">
            <a:avLst/>
          </a:prstGeom>
          <a:noFill/>
          <a:ln/>
        </p:spPr>
        <p:txBody>
          <a:bodyPr wrap="square" lIns="0" tIns="0" rIns="0" bIns="0" rtlCol="0" anchor="t"/>
          <a:lstStyle/>
          <a:p>
            <a:pPr indent="0" marL="0">
              <a:buNone/>
            </a:pPr>
            <a:r>
              <a:rPr lang="en-US" sz="1700" b="1" dirty="0">
                <a:solidFill>
                  <a:srgbClr val="0F172A"/>
                </a:solidFill>
              </a:rPr>
              <a:t>Accountability</a:t>
            </a:r>
            <a:endParaRPr lang="en-US" sz="1700" dirty="0"/>
          </a:p>
          <a:p>
            <a:pPr indent="0" marL="0">
              <a:buNone/>
            </a:pPr>
            <a:r>
              <a:rPr lang="en-US" sz="1400" dirty="0">
                <a:solidFill>
                  <a:srgbClr val="64748B"/>
                </a:solidFill>
              </a:rPr>
              <a:t>Every security event audited</a:t>
            </a:r>
            <a:endParaRPr lang="en-US" sz="1700" dirty="0"/>
          </a:p>
        </p:txBody>
      </p:sp>
      <p:sp>
        <p:nvSpPr>
          <p:cNvPr id="24" name="Shape 22"/>
          <p:cNvSpPr/>
          <p:nvPr/>
        </p:nvSpPr>
        <p:spPr>
          <a:xfrm>
            <a:off x="3383280" y="3840480"/>
            <a:ext cx="2560320" cy="2103120"/>
          </a:xfrm>
          <a:prstGeom prst="roundRect">
            <a:avLst>
              <a:gd name="adj" fmla="val 5217"/>
            </a:avLst>
          </a:prstGeom>
          <a:solidFill>
            <a:srgbClr val="F1F5F9"/>
          </a:solidFill>
          <a:ln/>
        </p:spPr>
      </p:sp>
      <p:sp>
        <p:nvSpPr>
          <p:cNvPr id="25" name="Shape 23"/>
          <p:cNvSpPr/>
          <p:nvPr/>
        </p:nvSpPr>
        <p:spPr>
          <a:xfrm>
            <a:off x="3611880" y="4069080"/>
            <a:ext cx="502920" cy="502920"/>
          </a:xfrm>
          <a:prstGeom prst="ellipse">
            <a:avLst/>
          </a:prstGeom>
          <a:solidFill>
            <a:srgbClr val="06B6D4"/>
          </a:solidFill>
          <a:ln/>
        </p:spPr>
      </p:sp>
      <p:sp>
        <p:nvSpPr>
          <p:cNvPr id="26" name="Text 24"/>
          <p:cNvSpPr txBox="1"/>
          <p:nvPr/>
        </p:nvSpPr>
        <p:spPr>
          <a:xfrm>
            <a:off x="3611880" y="40690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27" name="Text 25"/>
          <p:cNvSpPr txBox="1"/>
          <p:nvPr/>
        </p:nvSpPr>
        <p:spPr>
          <a:xfrm>
            <a:off x="3611880" y="4709160"/>
            <a:ext cx="2194560" cy="1097280"/>
          </a:xfrm>
          <a:prstGeom prst="rect">
            <a:avLst/>
          </a:prstGeom>
          <a:noFill/>
          <a:ln/>
        </p:spPr>
        <p:txBody>
          <a:bodyPr wrap="square" lIns="0" tIns="0" rIns="0" bIns="0" rtlCol="0" anchor="t"/>
          <a:lstStyle/>
          <a:p>
            <a:pPr indent="0" marL="0">
              <a:buNone/>
            </a:pPr>
            <a:r>
              <a:rPr lang="en-US" sz="1700" b="1" dirty="0">
                <a:solidFill>
                  <a:srgbClr val="0F172A"/>
                </a:solidFill>
              </a:rPr>
              <a:t>Data minimisation</a:t>
            </a:r>
            <a:endParaRPr lang="en-US" sz="1700" dirty="0"/>
          </a:p>
          <a:p>
            <a:pPr indent="0" marL="0">
              <a:buNone/>
            </a:pPr>
            <a:r>
              <a:rPr lang="en-US" sz="1400" dirty="0">
                <a:solidFill>
                  <a:srgbClr val="64748B"/>
                </a:solidFill>
              </a:rPr>
              <a:t>Safe e-mails: subject only</a:t>
            </a:r>
            <a:endParaRPr lang="en-US" sz="1700" dirty="0"/>
          </a:p>
        </p:txBody>
      </p:sp>
      <p:sp>
        <p:nvSpPr>
          <p:cNvPr id="28" name="Shape 26"/>
          <p:cNvSpPr/>
          <p:nvPr/>
        </p:nvSpPr>
        <p:spPr>
          <a:xfrm>
            <a:off x="6217920" y="3840480"/>
            <a:ext cx="2560320" cy="2103120"/>
          </a:xfrm>
          <a:prstGeom prst="roundRect">
            <a:avLst>
              <a:gd name="adj" fmla="val 5217"/>
            </a:avLst>
          </a:prstGeom>
          <a:solidFill>
            <a:srgbClr val="F1F5F9"/>
          </a:solidFill>
          <a:ln/>
        </p:spPr>
      </p:sp>
      <p:sp>
        <p:nvSpPr>
          <p:cNvPr id="29" name="Shape 27"/>
          <p:cNvSpPr/>
          <p:nvPr/>
        </p:nvSpPr>
        <p:spPr>
          <a:xfrm>
            <a:off x="6446520" y="4069080"/>
            <a:ext cx="502920" cy="502920"/>
          </a:xfrm>
          <a:prstGeom prst="ellipse">
            <a:avLst/>
          </a:prstGeom>
          <a:solidFill>
            <a:srgbClr val="06B6D4"/>
          </a:solidFill>
          <a:ln/>
        </p:spPr>
      </p:sp>
      <p:sp>
        <p:nvSpPr>
          <p:cNvPr id="30" name="Text 28"/>
          <p:cNvSpPr txBox="1"/>
          <p:nvPr/>
        </p:nvSpPr>
        <p:spPr>
          <a:xfrm>
            <a:off x="6446520" y="40690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31" name="Text 29"/>
          <p:cNvSpPr txBox="1"/>
          <p:nvPr/>
        </p:nvSpPr>
        <p:spPr>
          <a:xfrm>
            <a:off x="6446520" y="4709160"/>
            <a:ext cx="2194560" cy="1097280"/>
          </a:xfrm>
          <a:prstGeom prst="rect">
            <a:avLst/>
          </a:prstGeom>
          <a:noFill/>
          <a:ln/>
        </p:spPr>
        <p:txBody>
          <a:bodyPr wrap="square" lIns="0" tIns="0" rIns="0" bIns="0" rtlCol="0" anchor="t"/>
          <a:lstStyle/>
          <a:p>
            <a:pPr indent="0" marL="0">
              <a:buNone/>
            </a:pPr>
            <a:r>
              <a:rPr lang="en-US" sz="1700" b="1" dirty="0">
                <a:solidFill>
                  <a:srgbClr val="0F172A"/>
                </a:solidFill>
              </a:rPr>
              <a:t>Secrets</a:t>
            </a:r>
            <a:endParaRPr lang="en-US" sz="1700" dirty="0"/>
          </a:p>
          <a:p>
            <a:pPr indent="0" marL="0">
              <a:buNone/>
            </a:pPr>
            <a:r>
              <a:rPr lang="en-US" sz="1400" dirty="0">
                <a:solidFill>
                  <a:srgbClr val="64748B"/>
                </a:solidFill>
              </a:rPr>
              <a:t>bcrypt, Fernet, env-only keys</a:t>
            </a:r>
            <a:endParaRPr lang="en-US" sz="1700" dirty="0"/>
          </a:p>
        </p:txBody>
      </p:sp>
      <p:sp>
        <p:nvSpPr>
          <p:cNvPr id="32" name="Shape 30"/>
          <p:cNvSpPr/>
          <p:nvPr/>
        </p:nvSpPr>
        <p:spPr>
          <a:xfrm>
            <a:off x="9052560" y="3840480"/>
            <a:ext cx="2560320" cy="2103120"/>
          </a:xfrm>
          <a:prstGeom prst="roundRect">
            <a:avLst>
              <a:gd name="adj" fmla="val 5217"/>
            </a:avLst>
          </a:prstGeom>
          <a:solidFill>
            <a:srgbClr val="F1F5F9"/>
          </a:solidFill>
          <a:ln/>
        </p:spPr>
      </p:sp>
      <p:sp>
        <p:nvSpPr>
          <p:cNvPr id="33" name="Shape 31"/>
          <p:cNvSpPr/>
          <p:nvPr/>
        </p:nvSpPr>
        <p:spPr>
          <a:xfrm>
            <a:off x="9281160" y="4069080"/>
            <a:ext cx="502920" cy="502920"/>
          </a:xfrm>
          <a:prstGeom prst="ellipse">
            <a:avLst/>
          </a:prstGeom>
          <a:solidFill>
            <a:srgbClr val="06B6D4"/>
          </a:solidFill>
          <a:ln/>
        </p:spPr>
      </p:sp>
      <p:sp>
        <p:nvSpPr>
          <p:cNvPr id="34" name="Text 32"/>
          <p:cNvSpPr txBox="1"/>
          <p:nvPr/>
        </p:nvSpPr>
        <p:spPr>
          <a:xfrm>
            <a:off x="9281160" y="40690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35" name="Text 33"/>
          <p:cNvSpPr txBox="1"/>
          <p:nvPr/>
        </p:nvSpPr>
        <p:spPr>
          <a:xfrm>
            <a:off x="9281160" y="4709160"/>
            <a:ext cx="2194560" cy="1097280"/>
          </a:xfrm>
          <a:prstGeom prst="rect">
            <a:avLst/>
          </a:prstGeom>
          <a:noFill/>
          <a:ln/>
        </p:spPr>
        <p:txBody>
          <a:bodyPr wrap="square" lIns="0" tIns="0" rIns="0" bIns="0" rtlCol="0" anchor="t"/>
          <a:lstStyle/>
          <a:p>
            <a:pPr indent="0" marL="0">
              <a:buNone/>
            </a:pPr>
            <a:r>
              <a:rPr lang="en-US" sz="1700" b="1" dirty="0">
                <a:solidFill>
                  <a:srgbClr val="0F172A"/>
                </a:solidFill>
              </a:rPr>
              <a:t>Revocation</a:t>
            </a:r>
            <a:endParaRPr lang="en-US" sz="1700" dirty="0"/>
          </a:p>
          <a:p>
            <a:pPr indent="0" marL="0">
              <a:buNone/>
            </a:pPr>
            <a:r>
              <a:rPr lang="en-US" sz="1400" dirty="0">
                <a:solidFill>
                  <a:srgbClr val="64748B"/>
                </a:solidFill>
              </a:rPr>
              <a:t>session_version: sign out everywhere</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00800"/>
            <a:ext cx="548640" cy="274320"/>
          </a:xfrm>
          <a:prstGeom prst="rect">
            <a:avLst/>
          </a:prstGeom>
          <a:noFill/>
          <a:ln/>
        </p:spPr>
        <p:txBody>
          <a:bodyPr wrap="square" lIns="0" tIns="0" rIns="0" bIns="0" rtlCol="0" anchor="ctr"/>
          <a:lstStyle/>
          <a:p>
            <a:pPr algn="r" indent="0" marL="0">
              <a:buNone/>
            </a:pPr>
            <a:r>
              <a:rPr lang="en-US" sz="1000" dirty="0">
                <a:solidFill>
                  <a:srgbClr val="64748B"/>
                </a:solidFill>
              </a:rPr>
              <a:t>14</a:t>
            </a:r>
            <a:endParaRPr lang="en-US" sz="1000" dirty="0"/>
          </a:p>
        </p:txBody>
      </p:sp>
      <p:sp>
        <p:nvSpPr>
          <p:cNvPr id="3" name="Text 1"/>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Results on unseen Cameroonian messages</a:t>
            </a:r>
            <a:endParaRPr lang="en-US" sz="3200" dirty="0"/>
          </a:p>
        </p:txBody>
      </p:sp>
      <p:sp>
        <p:nvSpPr>
          <p:cNvPr id="4" name="Text 2"/>
          <p:cNvSpPr txBox="1"/>
          <p:nvPr/>
        </p:nvSpPr>
        <p:spPr>
          <a:xfrm>
            <a:off x="548640" y="1005840"/>
            <a:ext cx="11064240" cy="411480"/>
          </a:xfrm>
          <a:prstGeom prst="rect">
            <a:avLst/>
          </a:prstGeom>
          <a:noFill/>
          <a:ln/>
        </p:spPr>
        <p:txBody>
          <a:bodyPr wrap="square" lIns="0" tIns="0" rIns="0" bIns="0" rtlCol="0" anchor="ctr"/>
          <a:lstStyle/>
          <a:p>
            <a:pPr indent="0" marL="0">
              <a:buNone/>
            </a:pPr>
            <a:r>
              <a:rPr lang="en-US" sz="1600" i="1" dirty="0">
                <a:solidFill>
                  <a:srgbClr val="64748B"/>
                </a:solidFill>
                <a:latin typeface="Calibri" pitchFamily="34" charset="0"/>
                <a:ea typeface="Calibri" pitchFamily="34" charset="-122"/>
                <a:cs typeface="Calibri" pitchFamily="34" charset="-120"/>
              </a:rPr>
              <a:t>Flagged = score &gt; 40</a:t>
            </a:r>
            <a:endParaRPr lang="en-US" sz="1600" dirty="0"/>
          </a:p>
        </p:txBody>
      </p:sp>
      <p:graphicFrame>
        <p:nvGraphicFramePr>
          <p:cNvPr id="5" name="Chart 0" descr=""/>
          <p:cNvGraphicFramePr/>
          <p:nvPr/>
        </p:nvGraphicFramePr>
        <p:xfrm>
          <a:off x="457200" y="1463040"/>
          <a:ext cx="7132320" cy="48463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7955280" y="1554480"/>
            <a:ext cx="3840480" cy="822960"/>
          </a:xfrm>
          <a:prstGeom prst="rect">
            <a:avLst/>
          </a:prstGeom>
          <a:noFill/>
          <a:ln/>
        </p:spPr>
        <p:txBody>
          <a:bodyPr wrap="square" lIns="0" tIns="0" rIns="0" bIns="0" rtlCol="0" anchor="ctr"/>
          <a:lstStyle/>
          <a:p>
            <a:pPr indent="0" marL="0">
              <a:buNone/>
            </a:pPr>
            <a:r>
              <a:rPr lang="en-US" sz="4000" b="1" dirty="0">
                <a:solidFill>
                  <a:srgbClr val="10B981"/>
                </a:solidFill>
                <a:latin typeface="Cambria" pitchFamily="34" charset="0"/>
                <a:ea typeface="Cambria" pitchFamily="34" charset="-122"/>
                <a:cs typeface="Cambria" pitchFamily="34" charset="-120"/>
              </a:rPr>
              <a:t>0.939</a:t>
            </a:r>
            <a:endParaRPr lang="en-US" sz="4000" dirty="0"/>
          </a:p>
        </p:txBody>
      </p:sp>
      <p:sp>
        <p:nvSpPr>
          <p:cNvPr id="7" name="Text 4"/>
          <p:cNvSpPr txBox="1"/>
          <p:nvPr/>
        </p:nvSpPr>
        <p:spPr>
          <a:xfrm>
            <a:off x="7955280" y="2377440"/>
            <a:ext cx="3840480" cy="457200"/>
          </a:xfrm>
          <a:prstGeom prst="rect">
            <a:avLst/>
          </a:prstGeom>
          <a:noFill/>
          <a:ln/>
        </p:spPr>
        <p:txBody>
          <a:bodyPr wrap="square" lIns="0" tIns="0" rIns="0" bIns="0" rtlCol="0" anchor="ctr"/>
          <a:lstStyle/>
          <a:p>
            <a:pPr indent="0" marL="0">
              <a:buNone/>
            </a:pPr>
            <a:r>
              <a:rPr lang="en-US" sz="1500" dirty="0">
                <a:solidFill>
                  <a:srgbClr val="64748B"/>
                </a:solidFill>
              </a:rPr>
              <a:t>F1 with AI (n = 40)</a:t>
            </a:r>
            <a:endParaRPr lang="en-US" sz="1500" dirty="0"/>
          </a:p>
        </p:txBody>
      </p:sp>
      <p:sp>
        <p:nvSpPr>
          <p:cNvPr id="8" name="Text 5"/>
          <p:cNvSpPr txBox="1"/>
          <p:nvPr/>
        </p:nvSpPr>
        <p:spPr>
          <a:xfrm>
            <a:off x="7955280" y="3154680"/>
            <a:ext cx="3840480" cy="822960"/>
          </a:xfrm>
          <a:prstGeom prst="rect">
            <a:avLst/>
          </a:prstGeom>
          <a:noFill/>
          <a:ln/>
        </p:spPr>
        <p:txBody>
          <a:bodyPr wrap="square" lIns="0" tIns="0" rIns="0" bIns="0" rtlCol="0" anchor="ctr"/>
          <a:lstStyle/>
          <a:p>
            <a:pPr indent="0" marL="0">
              <a:buNone/>
            </a:pPr>
            <a:r>
              <a:rPr lang="en-US" sz="4000" b="1" dirty="0">
                <a:solidFill>
                  <a:srgbClr val="06B6D4"/>
                </a:solidFill>
                <a:latin typeface="Cambria" pitchFamily="34" charset="0"/>
                <a:ea typeface="Cambria" pitchFamily="34" charset="-122"/>
                <a:cs typeface="Cambria" pitchFamily="34" charset="-120"/>
              </a:rPr>
              <a:t>10.6 %</a:t>
            </a:r>
            <a:endParaRPr lang="en-US" sz="4000" dirty="0"/>
          </a:p>
        </p:txBody>
      </p:sp>
      <p:sp>
        <p:nvSpPr>
          <p:cNvPr id="9" name="Text 6"/>
          <p:cNvSpPr txBox="1"/>
          <p:nvPr/>
        </p:nvSpPr>
        <p:spPr>
          <a:xfrm>
            <a:off x="7955280" y="3977640"/>
            <a:ext cx="3840480" cy="457200"/>
          </a:xfrm>
          <a:prstGeom prst="rect">
            <a:avLst/>
          </a:prstGeom>
          <a:noFill/>
          <a:ln/>
        </p:spPr>
        <p:txBody>
          <a:bodyPr wrap="square" lIns="0" tIns="0" rIns="0" bIns="0" rtlCol="0" anchor="ctr"/>
          <a:lstStyle/>
          <a:p>
            <a:pPr indent="0" marL="0">
              <a:buNone/>
            </a:pPr>
            <a:r>
              <a:rPr lang="en-US" sz="1500" dirty="0">
                <a:solidFill>
                  <a:srgbClr val="64748B"/>
                </a:solidFill>
              </a:rPr>
              <a:t>false alarms, no AI (was 31.9 %)</a:t>
            </a:r>
            <a:endParaRPr lang="en-US" sz="1500" dirty="0"/>
          </a:p>
        </p:txBody>
      </p:sp>
      <p:sp>
        <p:nvSpPr>
          <p:cNvPr id="10" name="Text 7"/>
          <p:cNvSpPr txBox="1"/>
          <p:nvPr/>
        </p:nvSpPr>
        <p:spPr>
          <a:xfrm>
            <a:off x="7955280" y="4754880"/>
            <a:ext cx="3840480" cy="822960"/>
          </a:xfrm>
          <a:prstGeom prst="rect">
            <a:avLst/>
          </a:prstGeom>
          <a:noFill/>
          <a:ln/>
        </p:spPr>
        <p:txBody>
          <a:bodyPr wrap="square" lIns="0" tIns="0" rIns="0" bIns="0" rtlCol="0" anchor="ctr"/>
          <a:lstStyle/>
          <a:p>
            <a:pPr indent="0" marL="0">
              <a:buNone/>
            </a:pPr>
            <a:r>
              <a:rPr lang="en-US" sz="4000" b="1" dirty="0">
                <a:solidFill>
                  <a:srgbClr val="0B1F3A"/>
                </a:solidFill>
                <a:latin typeface="Cambria" pitchFamily="34" charset="0"/>
                <a:ea typeface="Cambria" pitchFamily="34" charset="-122"/>
                <a:cs typeface="Cambria" pitchFamily="34" charset="-120"/>
              </a:rPr>
              <a:t>10 ms / 7.2 s</a:t>
            </a:r>
            <a:endParaRPr lang="en-US" sz="4000" dirty="0"/>
          </a:p>
        </p:txBody>
      </p:sp>
      <p:sp>
        <p:nvSpPr>
          <p:cNvPr id="11" name="Text 8"/>
          <p:cNvSpPr txBox="1"/>
          <p:nvPr/>
        </p:nvSpPr>
        <p:spPr>
          <a:xfrm>
            <a:off x="7955280" y="5577840"/>
            <a:ext cx="3840480" cy="457200"/>
          </a:xfrm>
          <a:prstGeom prst="rect">
            <a:avLst/>
          </a:prstGeom>
          <a:noFill/>
          <a:ln/>
        </p:spPr>
        <p:txBody>
          <a:bodyPr wrap="square" lIns="0" tIns="0" rIns="0" bIns="0" rtlCol="0" anchor="ctr"/>
          <a:lstStyle/>
          <a:p>
            <a:pPr indent="0" marL="0">
              <a:buNone/>
            </a:pPr>
            <a:r>
              <a:rPr lang="en-US" sz="1500" dirty="0">
                <a:solidFill>
                  <a:srgbClr val="64748B"/>
                </a:solidFill>
              </a:rPr>
              <a:t>median latency offline / with AI</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00800"/>
            <a:ext cx="548640" cy="274320"/>
          </a:xfrm>
          <a:prstGeom prst="rect">
            <a:avLst/>
          </a:prstGeom>
          <a:noFill/>
          <a:ln/>
        </p:spPr>
        <p:txBody>
          <a:bodyPr wrap="square" lIns="0" tIns="0" rIns="0" bIns="0" rtlCol="0" anchor="ctr"/>
          <a:lstStyle/>
          <a:p>
            <a:pPr algn="r" indent="0" marL="0">
              <a:buNone/>
            </a:pPr>
            <a:r>
              <a:rPr lang="en-US" sz="1000" dirty="0">
                <a:solidFill>
                  <a:srgbClr val="64748B"/>
                </a:solidFill>
              </a:rPr>
              <a:t>15</a:t>
            </a:r>
            <a:endParaRPr lang="en-US" sz="1000" dirty="0"/>
          </a:p>
        </p:txBody>
      </p:sp>
      <p:sp>
        <p:nvSpPr>
          <p:cNvPr id="3" name="Text 1"/>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Honest limits and next steps</a:t>
            </a:r>
            <a:endParaRPr lang="en-US" sz="3200" dirty="0"/>
          </a:p>
        </p:txBody>
      </p:sp>
      <p:sp>
        <p:nvSpPr>
          <p:cNvPr id="4" name="Shape 2"/>
          <p:cNvSpPr/>
          <p:nvPr/>
        </p:nvSpPr>
        <p:spPr>
          <a:xfrm>
            <a:off x="548640" y="1371600"/>
            <a:ext cx="5394960" cy="4846320"/>
          </a:xfrm>
          <a:prstGeom prst="roundRect">
            <a:avLst>
              <a:gd name="adj" fmla="val 2264"/>
            </a:avLst>
          </a:prstGeom>
          <a:solidFill>
            <a:srgbClr val="FEF2F2"/>
          </a:solidFill>
          <a:ln/>
        </p:spPr>
      </p:sp>
      <p:sp>
        <p:nvSpPr>
          <p:cNvPr id="5" name="Text 3"/>
          <p:cNvSpPr txBox="1"/>
          <p:nvPr/>
        </p:nvSpPr>
        <p:spPr>
          <a:xfrm>
            <a:off x="822960" y="1554480"/>
            <a:ext cx="4937760" cy="4480560"/>
          </a:xfrm>
          <a:prstGeom prst="rect">
            <a:avLst/>
          </a:prstGeom>
          <a:noFill/>
          <a:ln/>
        </p:spPr>
        <p:txBody>
          <a:bodyPr wrap="square" rtlCol="0" anchor="t"/>
          <a:lstStyle/>
          <a:p>
            <a:pPr indent="0" marL="0">
              <a:spcAft>
                <a:spcPts val="800"/>
              </a:spcAft>
              <a:buNone/>
            </a:pPr>
            <a:r>
              <a:rPr lang="en-US" sz="2000" b="1" dirty="0">
                <a:solidFill>
                  <a:srgbClr val="7F1D1D"/>
                </a:solidFill>
              </a:rPr>
              <a:t>Where it still fails</a:t>
            </a:r>
            <a:endParaRPr lang="en-US" sz="1600" dirty="0"/>
          </a:p>
          <a:p>
            <a:pPr marL="342900" indent="-342900">
              <a:spcAft>
                <a:spcPts val="800"/>
              </a:spcAft>
              <a:buSzPct val="100000"/>
              <a:buChar char="•"/>
            </a:pPr>
            <a:r>
              <a:rPr lang="en-US" sz="1600" dirty="0">
                <a:solidFill>
                  <a:srgbClr val="0F172A"/>
                </a:solidFill>
              </a:rPr>
              <a:t>Scams with no link and no brand ("fake relative", "fake agent"): scores 35–40, just under the threshold</a:t>
            </a:r>
            <a:endParaRPr lang="en-US" sz="1600" dirty="0"/>
          </a:p>
          <a:p>
            <a:pPr marL="342900" indent="-342900">
              <a:spcAft>
                <a:spcPts val="800"/>
              </a:spcAft>
              <a:buSzPct val="100000"/>
              <a:buChar char="•"/>
            </a:pPr>
            <a:r>
              <a:rPr lang="en-US" sz="1600" dirty="0">
                <a:solidFill>
                  <a:srgbClr val="0F172A"/>
                </a:solidFill>
              </a:rPr>
              <a:t>Corpus partly synthetic (templates)</a:t>
            </a:r>
            <a:endParaRPr lang="en-US" sz="1600" dirty="0"/>
          </a:p>
          <a:p>
            <a:pPr marL="342900" indent="-342900">
              <a:spcAft>
                <a:spcPts val="800"/>
              </a:spcAft>
              <a:buSzPct val="100000"/>
              <a:buChar char="•"/>
            </a:pPr>
            <a:r>
              <a:rPr lang="en-US" sz="1600" dirty="0">
                <a:solidFill>
                  <a:srgbClr val="0F172A"/>
                </a:solidFill>
              </a:rPr>
              <a:t>AI measured on 40 messages only</a:t>
            </a:r>
            <a:endParaRPr lang="en-US" sz="1600" dirty="0"/>
          </a:p>
          <a:p>
            <a:pPr marL="342900" indent="-342900">
              <a:spcAft>
                <a:spcPts val="800"/>
              </a:spcAft>
              <a:buSzPct val="100000"/>
              <a:buChar char="•"/>
            </a:pPr>
            <a:r>
              <a:rPr lang="en-US" sz="1600" dirty="0">
                <a:solidFill>
                  <a:srgbClr val="0F172A"/>
                </a:solidFill>
              </a:rPr>
              <a:t>No field acceptance study yet; no load test</a:t>
            </a:r>
            <a:endParaRPr lang="en-US" sz="1600" dirty="0"/>
          </a:p>
          <a:p>
            <a:pPr marL="342900" indent="-342900">
              <a:spcAft>
                <a:spcPts val="800"/>
              </a:spcAft>
              <a:buSzPct val="100000"/>
              <a:buChar char="•"/>
            </a:pPr>
            <a:r>
              <a:rPr lang="en-US" sz="1600" dirty="0">
                <a:solidFill>
                  <a:srgbClr val="0F172A"/>
                </a:solidFill>
              </a:rPr>
              <a:t>Gmail senders cannot be located</a:t>
            </a:r>
            <a:endParaRPr lang="en-US" sz="1600" dirty="0"/>
          </a:p>
        </p:txBody>
      </p:sp>
      <p:sp>
        <p:nvSpPr>
          <p:cNvPr id="6" name="Shape 4"/>
          <p:cNvSpPr/>
          <p:nvPr/>
        </p:nvSpPr>
        <p:spPr>
          <a:xfrm>
            <a:off x="6217920" y="1371600"/>
            <a:ext cx="5394960" cy="4846320"/>
          </a:xfrm>
          <a:prstGeom prst="roundRect">
            <a:avLst>
              <a:gd name="adj" fmla="val 2264"/>
            </a:avLst>
          </a:prstGeom>
          <a:solidFill>
            <a:srgbClr val="ECFDF5"/>
          </a:solidFill>
          <a:ln/>
        </p:spPr>
      </p:sp>
      <p:sp>
        <p:nvSpPr>
          <p:cNvPr id="7" name="Text 5"/>
          <p:cNvSpPr txBox="1"/>
          <p:nvPr/>
        </p:nvSpPr>
        <p:spPr>
          <a:xfrm>
            <a:off x="6492240" y="1554480"/>
            <a:ext cx="4937760" cy="4480560"/>
          </a:xfrm>
          <a:prstGeom prst="rect">
            <a:avLst/>
          </a:prstGeom>
          <a:noFill/>
          <a:ln/>
        </p:spPr>
        <p:txBody>
          <a:bodyPr wrap="square" rtlCol="0" anchor="t"/>
          <a:lstStyle/>
          <a:p>
            <a:pPr indent="0" marL="0">
              <a:spcAft>
                <a:spcPts val="800"/>
              </a:spcAft>
              <a:buNone/>
            </a:pPr>
            <a:r>
              <a:rPr lang="en-US" sz="2000" b="1" dirty="0">
                <a:solidFill>
                  <a:srgbClr val="065F46"/>
                </a:solidFill>
              </a:rPr>
              <a:t>Next steps</a:t>
            </a:r>
            <a:endParaRPr lang="en-US" sz="1600" dirty="0"/>
          </a:p>
          <a:p>
            <a:pPr marL="342900" indent="-342900">
              <a:spcAft>
                <a:spcPts val="800"/>
              </a:spcAft>
              <a:buSzPct val="100000"/>
              <a:buChar char="•"/>
            </a:pPr>
            <a:r>
              <a:rPr lang="en-US" sz="1600" dirty="0">
                <a:solidFill>
                  <a:srgbClr val="0F172A"/>
                </a:solidFill>
              </a:rPr>
              <a:t>Collect real labelled messages via the review queue, retrain</a:t>
            </a:r>
            <a:endParaRPr lang="en-US" sz="1600" dirty="0"/>
          </a:p>
          <a:p>
            <a:pPr marL="342900" indent="-342900">
              <a:spcAft>
                <a:spcPts val="800"/>
              </a:spcAft>
              <a:buSzPct val="100000"/>
              <a:buChar char="•"/>
            </a:pPr>
            <a:r>
              <a:rPr lang="en-US" sz="1600" dirty="0">
                <a:solidFill>
                  <a:srgbClr val="0F172A"/>
                </a:solidFill>
              </a:rPr>
              <a:t>Rules for money requests from "new numbers"</a:t>
            </a:r>
            <a:endParaRPr lang="en-US" sz="1600" dirty="0"/>
          </a:p>
          <a:p>
            <a:pPr marL="342900" indent="-342900">
              <a:spcAft>
                <a:spcPts val="800"/>
              </a:spcAft>
              <a:buSzPct val="100000"/>
              <a:buChar char="•"/>
            </a:pPr>
            <a:r>
              <a:rPr lang="en-US" sz="1600" dirty="0">
                <a:solidFill>
                  <a:srgbClr val="0F172A"/>
                </a:solidFill>
              </a:rPr>
              <a:t>User study with 30 participants (questionnaire ready)</a:t>
            </a:r>
            <a:endParaRPr lang="en-US" sz="1600" dirty="0"/>
          </a:p>
          <a:p>
            <a:pPr marL="342900" indent="-342900">
              <a:spcAft>
                <a:spcPts val="800"/>
              </a:spcAft>
              <a:buSzPct val="100000"/>
              <a:buChar char="•"/>
            </a:pPr>
            <a:r>
              <a:rPr lang="en-US" sz="1600" dirty="0">
                <a:solidFill>
                  <a:srgbClr val="0F172A"/>
                </a:solidFill>
              </a:rPr>
              <a:t>Partnership with CIRT / operators for feeds and takedowns</a:t>
            </a:r>
            <a:endParaRPr lang="en-US" sz="1600" dirty="0"/>
          </a:p>
          <a:p>
            <a:pPr marL="342900" indent="-342900">
              <a:spcAft>
                <a:spcPts val="800"/>
              </a:spcAft>
              <a:buSzPct val="100000"/>
              <a:buChar char="•"/>
            </a:pPr>
            <a:r>
              <a:rPr lang="en-US" sz="1600" dirty="0">
                <a:solidFill>
                  <a:srgbClr val="0F172A"/>
                </a:solidFill>
              </a:rPr>
              <a:t>WhatsApp bot and USSD channel</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11338560" y="6400800"/>
            <a:ext cx="548640" cy="274320"/>
          </a:xfrm>
          <a:prstGeom prst="rect">
            <a:avLst/>
          </a:prstGeom>
          <a:noFill/>
          <a:ln/>
        </p:spPr>
        <p:txBody>
          <a:bodyPr wrap="square" lIns="0" tIns="0" rIns="0" bIns="0" rtlCol="0" anchor="ctr"/>
          <a:lstStyle/>
          <a:p>
            <a:pPr algn="r" indent="0" marL="0">
              <a:buNone/>
            </a:pPr>
            <a:r>
              <a:rPr lang="en-US" sz="1000" dirty="0">
                <a:solidFill>
                  <a:srgbClr val="94A3B8"/>
                </a:solidFill>
              </a:rPr>
              <a:t>16</a:t>
            </a:r>
            <a:endParaRPr lang="en-US" sz="1000" dirty="0"/>
          </a:p>
        </p:txBody>
      </p:sp>
      <p:sp>
        <p:nvSpPr>
          <p:cNvPr id="3" name="Text 1"/>
          <p:cNvSpPr txBox="1"/>
          <p:nvPr/>
        </p:nvSpPr>
        <p:spPr>
          <a:xfrm>
            <a:off x="548640" y="1280160"/>
            <a:ext cx="10972800" cy="109728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4" name="Text 2"/>
          <p:cNvSpPr txBox="1"/>
          <p:nvPr/>
        </p:nvSpPr>
        <p:spPr>
          <a:xfrm>
            <a:off x="548640" y="2560320"/>
            <a:ext cx="10515600" cy="822960"/>
          </a:xfrm>
          <a:prstGeom prst="rect">
            <a:avLst/>
          </a:prstGeom>
          <a:noFill/>
          <a:ln/>
        </p:spPr>
        <p:txBody>
          <a:bodyPr wrap="square" lIns="0" tIns="0" rIns="0" bIns="0" rtlCol="0" anchor="ctr"/>
          <a:lstStyle/>
          <a:p>
            <a:pPr indent="0" marL="0">
              <a:buNone/>
            </a:pPr>
            <a:r>
              <a:rPr lang="en-US" sz="2200" dirty="0">
                <a:solidFill>
                  <a:srgbClr val="06B6D4"/>
                </a:solidFill>
              </a:rPr>
              <a:t>PhishGuard-AI detects, explains and teaches — built for the scams Cameroonians actually receive.</a:t>
            </a:r>
            <a:endParaRPr lang="en-US" sz="2200" dirty="0"/>
          </a:p>
        </p:txBody>
      </p:sp>
      <p:sp>
        <p:nvSpPr>
          <p:cNvPr id="5" name="Text 3"/>
          <p:cNvSpPr txBox="1"/>
          <p:nvPr/>
        </p:nvSpPr>
        <p:spPr>
          <a:xfrm>
            <a:off x="548640" y="3931920"/>
            <a:ext cx="256032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4 / 4</a:t>
            </a:r>
            <a:endParaRPr lang="en-US" sz="4000" dirty="0"/>
          </a:p>
        </p:txBody>
      </p:sp>
      <p:sp>
        <p:nvSpPr>
          <p:cNvPr id="6" name="Text 4"/>
          <p:cNvSpPr txBox="1"/>
          <p:nvPr/>
        </p:nvSpPr>
        <p:spPr>
          <a:xfrm>
            <a:off x="548640" y="4754880"/>
            <a:ext cx="2560320" cy="457200"/>
          </a:xfrm>
          <a:prstGeom prst="rect">
            <a:avLst/>
          </a:prstGeom>
          <a:noFill/>
          <a:ln/>
        </p:spPr>
        <p:txBody>
          <a:bodyPr wrap="square" lIns="0" tIns="0" rIns="0" bIns="0" rtlCol="0" anchor="ctr"/>
          <a:lstStyle/>
          <a:p>
            <a:pPr indent="0" marL="0">
              <a:buNone/>
            </a:pPr>
            <a:r>
              <a:rPr lang="en-US" sz="1500" dirty="0">
                <a:solidFill>
                  <a:srgbClr val="94A3B8"/>
                </a:solidFill>
              </a:rPr>
              <a:t>objectives met</a:t>
            </a:r>
            <a:endParaRPr lang="en-US" sz="1500" dirty="0"/>
          </a:p>
        </p:txBody>
      </p:sp>
      <p:sp>
        <p:nvSpPr>
          <p:cNvPr id="7" name="Text 5"/>
          <p:cNvSpPr txBox="1"/>
          <p:nvPr/>
        </p:nvSpPr>
        <p:spPr>
          <a:xfrm>
            <a:off x="3383280" y="3931920"/>
            <a:ext cx="256032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0.939</a:t>
            </a:r>
            <a:endParaRPr lang="en-US" sz="4000" dirty="0"/>
          </a:p>
        </p:txBody>
      </p:sp>
      <p:sp>
        <p:nvSpPr>
          <p:cNvPr id="8" name="Text 6"/>
          <p:cNvSpPr txBox="1"/>
          <p:nvPr/>
        </p:nvSpPr>
        <p:spPr>
          <a:xfrm>
            <a:off x="3383280" y="4754880"/>
            <a:ext cx="2560320" cy="457200"/>
          </a:xfrm>
          <a:prstGeom prst="rect">
            <a:avLst/>
          </a:prstGeom>
          <a:noFill/>
          <a:ln/>
        </p:spPr>
        <p:txBody>
          <a:bodyPr wrap="square" lIns="0" tIns="0" rIns="0" bIns="0" rtlCol="0" anchor="ctr"/>
          <a:lstStyle/>
          <a:p>
            <a:pPr indent="0" marL="0">
              <a:buNone/>
            </a:pPr>
            <a:r>
              <a:rPr lang="en-US" sz="1500" dirty="0">
                <a:solidFill>
                  <a:srgbClr val="94A3B8"/>
                </a:solidFill>
              </a:rPr>
              <a:t>F1 with AI</a:t>
            </a:r>
            <a:endParaRPr lang="en-US" sz="1500" dirty="0"/>
          </a:p>
        </p:txBody>
      </p:sp>
      <p:sp>
        <p:nvSpPr>
          <p:cNvPr id="9" name="Text 7"/>
          <p:cNvSpPr txBox="1"/>
          <p:nvPr/>
        </p:nvSpPr>
        <p:spPr>
          <a:xfrm>
            <a:off x="6217920" y="3931920"/>
            <a:ext cx="256032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12 / 12</a:t>
            </a:r>
            <a:endParaRPr lang="en-US" sz="4000" dirty="0"/>
          </a:p>
        </p:txBody>
      </p:sp>
      <p:sp>
        <p:nvSpPr>
          <p:cNvPr id="10" name="Text 8"/>
          <p:cNvSpPr txBox="1"/>
          <p:nvPr/>
        </p:nvSpPr>
        <p:spPr>
          <a:xfrm>
            <a:off x="6217920" y="4754880"/>
            <a:ext cx="2560320" cy="457200"/>
          </a:xfrm>
          <a:prstGeom prst="rect">
            <a:avLst/>
          </a:prstGeom>
          <a:noFill/>
          <a:ln/>
        </p:spPr>
        <p:txBody>
          <a:bodyPr wrap="square" lIns="0" tIns="0" rIns="0" bIns="0" rtlCol="0" anchor="ctr"/>
          <a:lstStyle/>
          <a:p>
            <a:pPr indent="0" marL="0">
              <a:buNone/>
            </a:pPr>
            <a:r>
              <a:rPr lang="en-US" sz="1500" dirty="0">
                <a:solidFill>
                  <a:srgbClr val="94A3B8"/>
                </a:solidFill>
              </a:rPr>
              <a:t>security tests passed</a:t>
            </a:r>
            <a:endParaRPr lang="en-US" sz="1500" dirty="0"/>
          </a:p>
        </p:txBody>
      </p:sp>
      <p:sp>
        <p:nvSpPr>
          <p:cNvPr id="11" name="Text 9"/>
          <p:cNvSpPr txBox="1"/>
          <p:nvPr/>
        </p:nvSpPr>
        <p:spPr>
          <a:xfrm>
            <a:off x="9052560" y="3931920"/>
            <a:ext cx="256032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43</a:t>
            </a:r>
            <a:endParaRPr lang="en-US" sz="4000" dirty="0"/>
          </a:p>
        </p:txBody>
      </p:sp>
      <p:sp>
        <p:nvSpPr>
          <p:cNvPr id="12" name="Text 10"/>
          <p:cNvSpPr txBox="1"/>
          <p:nvPr/>
        </p:nvSpPr>
        <p:spPr>
          <a:xfrm>
            <a:off x="9052560" y="4754880"/>
            <a:ext cx="2560320" cy="457200"/>
          </a:xfrm>
          <a:prstGeom prst="rect">
            <a:avLst/>
          </a:prstGeom>
          <a:noFill/>
          <a:ln/>
        </p:spPr>
        <p:txBody>
          <a:bodyPr wrap="square" lIns="0" tIns="0" rIns="0" bIns="0" rtlCol="0" anchor="ctr"/>
          <a:lstStyle/>
          <a:p>
            <a:pPr indent="0" marL="0">
              <a:buNone/>
            </a:pPr>
            <a:r>
              <a:rPr lang="en-US" sz="1500" dirty="0">
                <a:solidFill>
                  <a:srgbClr val="94A3B8"/>
                </a:solidFill>
              </a:rPr>
              <a:t>figures in the report</a:t>
            </a:r>
            <a:endParaRPr lang="en-US" sz="1500" dirty="0"/>
          </a:p>
        </p:txBody>
      </p:sp>
      <p:sp>
        <p:nvSpPr>
          <p:cNvPr id="13" name="Text 11"/>
          <p:cNvSpPr txBox="1"/>
          <p:nvPr/>
        </p:nvSpPr>
        <p:spPr>
          <a:xfrm>
            <a:off x="548640" y="5760720"/>
            <a:ext cx="7315200" cy="457200"/>
          </a:xfrm>
          <a:prstGeom prst="rect">
            <a:avLst/>
          </a:prstGeom>
          <a:noFill/>
          <a:ln/>
        </p:spPr>
        <p:txBody>
          <a:bodyPr wrap="square" lIns="0" tIns="0" rIns="0" bIns="0" rtlCol="0" anchor="ctr"/>
          <a:lstStyle/>
          <a:p>
            <a:pPr indent="0" marL="0">
              <a:buNone/>
            </a:pPr>
            <a:r>
              <a:rPr lang="en-US" sz="1600" i="1" dirty="0">
                <a:solidFill>
                  <a:srgbClr val="94A3B8"/>
                </a:solidFill>
              </a:rPr>
              <a:t>Questions from the jury are welcome.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PhishGuard-AI - Bachelor defence</dc:title>
  <dc:subject>PptxGenJS Presentation</dc:subject>
  <dc:creator>DJAMBOU NOUBIBOU Lareine Tracy</dc:creator>
  <cp:lastModifiedBy>DJAMBOU NOUBIBOU Lareine Tracy</cp:lastModifiedBy>
  <cp:revision>1</cp:revision>
  <dcterms:created xsi:type="dcterms:W3CDTF">2026-09-28T07:31:17Z</dcterms:created>
  <dcterms:modified xsi:type="dcterms:W3CDTF">2026-09-28T07:31:17Z</dcterms:modified>
</cp:coreProperties>
</file>